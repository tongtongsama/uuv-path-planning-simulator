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66754f4a7450f" /><Relationship Type="http://schemas.openxmlformats.org/officeDocument/2006/relationships/extended-properties" Target="/docProps/app.xml" Id="R6e3e1b85de804866" /><Relationship Type="http://schemas.openxmlformats.org/officeDocument/2006/relationships/officeDocument" Target="/ppt/presentation.xml" Id="Rcbb3ccefc9b2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65bbdfea804f46"/>
  </p:sldMasterIdLst>
  <p:notesMasterIdLst>
    <p:notesMasterId xmlns:r="http://schemas.openxmlformats.org/officeDocument/2006/relationships" r:id="R491746c2f206425e"/>
  </p:notesMasterIdLst>
  <p:sldIdLst>
    <p:sldId xmlns:r="http://schemas.openxmlformats.org/officeDocument/2006/relationships" id="256" r:id="R8069152542a642b9"/>
    <p:sldId xmlns:r="http://schemas.openxmlformats.org/officeDocument/2006/relationships" id="257" r:id="R1bf4a50549a548c4"/>
    <p:sldId xmlns:r="http://schemas.openxmlformats.org/officeDocument/2006/relationships" id="258" r:id="R978b3d81dd6549bf"/>
    <p:sldId xmlns:r="http://schemas.openxmlformats.org/officeDocument/2006/relationships" id="259" r:id="Rec8d473ea713486a"/>
    <p:sldId xmlns:r="http://schemas.openxmlformats.org/officeDocument/2006/relationships" id="260" r:id="Ra5fa3adb9b4345d3"/>
    <p:sldId xmlns:r="http://schemas.openxmlformats.org/officeDocument/2006/relationships" id="261" r:id="Rcd1885088d514a96"/>
    <p:sldId xmlns:r="http://schemas.openxmlformats.org/officeDocument/2006/relationships" id="262" r:id="Rbb4869e610c042ab"/>
    <p:sldId xmlns:r="http://schemas.openxmlformats.org/officeDocument/2006/relationships" id="263" r:id="Rfb46e75878cb4e16"/>
    <p:sldId xmlns:r="http://schemas.openxmlformats.org/officeDocument/2006/relationships" id="264" r:id="R56dd06d2a9ed4bb2"/>
    <p:sldId xmlns:r="http://schemas.openxmlformats.org/officeDocument/2006/relationships" id="265" r:id="Re36555fe1de443ba"/>
    <p:sldId xmlns:r="http://schemas.openxmlformats.org/officeDocument/2006/relationships" id="266" r:id="Rde076f90106e451f"/>
    <p:sldId xmlns:r="http://schemas.openxmlformats.org/officeDocument/2006/relationships" id="267" r:id="R8e6f6579f924460f"/>
    <p:sldId xmlns:r="http://schemas.openxmlformats.org/officeDocument/2006/relationships" id="268" r:id="R74db925768564b12"/>
    <p:sldId xmlns:r="http://schemas.openxmlformats.org/officeDocument/2006/relationships" id="269" r:id="R525cd52eb59e4e6a"/>
    <p:sldId xmlns:r="http://schemas.openxmlformats.org/officeDocument/2006/relationships" id="270" r:id="R5390672bee1f4e93"/>
    <p:sldId xmlns:r="http://schemas.openxmlformats.org/officeDocument/2006/relationships" id="271" r:id="R79ae7d3327a64f99"/>
    <p:sldId xmlns:r="http://schemas.openxmlformats.org/officeDocument/2006/relationships" id="272" r:id="Rba10f546a8044e9e"/>
    <p:sldId xmlns:r="http://schemas.openxmlformats.org/officeDocument/2006/relationships" id="273" r:id="R997f2f6c783d4c64"/>
    <p:sldId xmlns:r="http://schemas.openxmlformats.org/officeDocument/2006/relationships" id="274" r:id="R60dea71166f94f52"/>
    <p:sldId xmlns:r="http://schemas.openxmlformats.org/officeDocument/2006/relationships" id="275" r:id="R4fae059892c6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1d808e9174ace" /><Relationship Type="http://schemas.openxmlformats.org/officeDocument/2006/relationships/slideMaster" Target="/ppt/slideMasters/slideMaster1.xml" Id="R3365bbdfea804f46" /><Relationship Type="http://schemas.openxmlformats.org/officeDocument/2006/relationships/notesMaster" Target="/ppt/notesMasters/notesMaster1.xml" Id="R491746c2f206425e" /><Relationship Type="http://schemas.openxmlformats.org/officeDocument/2006/relationships/presProps" Target="/ppt/presProps.xml" Id="R33a3ea46384e41ee" /><Relationship Type="http://schemas.openxmlformats.org/officeDocument/2006/relationships/viewProps" Target="/ppt/viewProps.xml" Id="Rb9a9c52a143e4d36" /><Relationship Type="http://schemas.openxmlformats.org/officeDocument/2006/relationships/tableStyles" Target="/ppt/tableStyles.xml" Id="R6790d20a3dd74462" /><Relationship Type="http://schemas.openxmlformats.org/officeDocument/2006/relationships/slide" Target="/ppt/slides/slide1.xml" Id="R8069152542a642b9" /><Relationship Type="http://schemas.openxmlformats.org/officeDocument/2006/relationships/slide" Target="/ppt/slides/slide2.xml" Id="R1bf4a50549a548c4" /><Relationship Type="http://schemas.openxmlformats.org/officeDocument/2006/relationships/slide" Target="/ppt/slides/slide3.xml" Id="R978b3d81dd6549bf" /><Relationship Type="http://schemas.openxmlformats.org/officeDocument/2006/relationships/slide" Target="/ppt/slides/slide4.xml" Id="Rec8d473ea713486a" /><Relationship Type="http://schemas.openxmlformats.org/officeDocument/2006/relationships/slide" Target="/ppt/slides/slide5.xml" Id="Ra5fa3adb9b4345d3" /><Relationship Type="http://schemas.openxmlformats.org/officeDocument/2006/relationships/slide" Target="/ppt/slides/slide6.xml" Id="Rcd1885088d514a96" /><Relationship Type="http://schemas.openxmlformats.org/officeDocument/2006/relationships/slide" Target="/ppt/slides/slide7.xml" Id="Rbb4869e610c042ab" /><Relationship Type="http://schemas.openxmlformats.org/officeDocument/2006/relationships/slide" Target="/ppt/slides/slide8.xml" Id="Rfb46e75878cb4e16" /><Relationship Type="http://schemas.openxmlformats.org/officeDocument/2006/relationships/slide" Target="/ppt/slides/slide9.xml" Id="R56dd06d2a9ed4bb2" /><Relationship Type="http://schemas.openxmlformats.org/officeDocument/2006/relationships/slide" Target="/ppt/slides/slide10.xml" Id="Re36555fe1de443ba" /><Relationship Type="http://schemas.openxmlformats.org/officeDocument/2006/relationships/slide" Target="/ppt/slides/slide11.xml" Id="Rde076f90106e451f" /><Relationship Type="http://schemas.openxmlformats.org/officeDocument/2006/relationships/slide" Target="/ppt/slides/slide12.xml" Id="R8e6f6579f924460f" /><Relationship Type="http://schemas.openxmlformats.org/officeDocument/2006/relationships/slide" Target="/ppt/slides/slide13.xml" Id="R74db925768564b12" /><Relationship Type="http://schemas.openxmlformats.org/officeDocument/2006/relationships/slide" Target="/ppt/slides/slide14.xml" Id="R525cd52eb59e4e6a" /><Relationship Type="http://schemas.openxmlformats.org/officeDocument/2006/relationships/slide" Target="/ppt/slides/slide15.xml" Id="R5390672bee1f4e93" /><Relationship Type="http://schemas.openxmlformats.org/officeDocument/2006/relationships/slide" Target="/ppt/slides/slide16.xml" Id="R79ae7d3327a64f99" /><Relationship Type="http://schemas.openxmlformats.org/officeDocument/2006/relationships/slide" Target="/ppt/slides/slide17.xml" Id="Rba10f546a8044e9e" /><Relationship Type="http://schemas.openxmlformats.org/officeDocument/2006/relationships/slide" Target="/ppt/slides/slide18.xml" Id="R997f2f6c783d4c64" /><Relationship Type="http://schemas.openxmlformats.org/officeDocument/2006/relationships/slide" Target="/ppt/slides/slide19.xml" Id="R60dea71166f94f52" /><Relationship Type="http://schemas.openxmlformats.org/officeDocument/2006/relationships/slide" Target="/ppt/slides/slide20.xml" Id="R4fae059892c6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1b8cd922644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0af80082f4464" /><Relationship Type="http://schemas.openxmlformats.org/officeDocument/2006/relationships/notesMaster" Target="/ppt/notesMasters/notesMaster1.xml" Id="R66b438841134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26879a3f845af" /><Relationship Type="http://schemas.openxmlformats.org/officeDocument/2006/relationships/notesMaster" Target="/ppt/notesMasters/notesMaster1.xml" Id="R1ce4fb2ec159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95f179b484035" /><Relationship Type="http://schemas.openxmlformats.org/officeDocument/2006/relationships/notesMaster" Target="/ppt/notesMasters/notesMaster1.xml" Id="R2efc45798251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d0eee2af614300" /><Relationship Type="http://schemas.openxmlformats.org/officeDocument/2006/relationships/notesMaster" Target="/ppt/notesMasters/notesMaster1.xml" Id="R181820dba1f0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9dcb71ad34397" /><Relationship Type="http://schemas.openxmlformats.org/officeDocument/2006/relationships/notesMaster" Target="/ppt/notesMasters/notesMaster1.xml" Id="Raa80b88248c0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8bcd4e030642a0" /><Relationship Type="http://schemas.openxmlformats.org/officeDocument/2006/relationships/notesMaster" Target="/ppt/notesMasters/notesMaster1.xml" Id="Rf3a8145c89224e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9cd0da57ec4098" /><Relationship Type="http://schemas.openxmlformats.org/officeDocument/2006/relationships/notesMaster" Target="/ppt/notesMasters/notesMaster1.xml" Id="Rfc32878084b34c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82b6ca89d04bba" /><Relationship Type="http://schemas.openxmlformats.org/officeDocument/2006/relationships/notesMaster" Target="/ppt/notesMasters/notesMaster1.xml" Id="R9d63a2ca66da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c4746f14584c3d" /><Relationship Type="http://schemas.openxmlformats.org/officeDocument/2006/relationships/notesMaster" Target="/ppt/notesMasters/notesMaster1.xml" Id="R345aaf01781b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a0babad3614bea" /><Relationship Type="http://schemas.openxmlformats.org/officeDocument/2006/relationships/notesMaster" Target="/ppt/notesMasters/notesMaster1.xml" Id="R7a427a79081b4a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97c511792f43ad" /><Relationship Type="http://schemas.openxmlformats.org/officeDocument/2006/relationships/notesMaster" Target="/ppt/notesMasters/notesMaster1.xml" Id="R05ed80f73ea54d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20b70c2b7949b0" /><Relationship Type="http://schemas.openxmlformats.org/officeDocument/2006/relationships/notesMaster" Target="/ppt/notesMasters/notesMaster1.xml" Id="Rae27ea22337e4f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46491bcbd24847" /><Relationship Type="http://schemas.openxmlformats.org/officeDocument/2006/relationships/notesMaster" Target="/ppt/notesMasters/notesMaster1.xml" Id="R15e6ba1b49304e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f76186388449a0" /><Relationship Type="http://schemas.openxmlformats.org/officeDocument/2006/relationships/notesMaster" Target="/ppt/notesMasters/notesMaster1.xml" Id="R13ed3062384542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50865e33104216" /><Relationship Type="http://schemas.openxmlformats.org/officeDocument/2006/relationships/notesMaster" Target="/ppt/notesMasters/notesMaster1.xml" Id="Re88d8f693a6343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c0c804c04546d2" /><Relationship Type="http://schemas.openxmlformats.org/officeDocument/2006/relationships/notesMaster" Target="/ppt/notesMasters/notesMaster1.xml" Id="R6f7714854d3e48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e4859d73e14c23" /><Relationship Type="http://schemas.openxmlformats.org/officeDocument/2006/relationships/notesMaster" Target="/ppt/notesMasters/notesMaster1.xml" Id="R5546fd5f4c4e47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2d555d7d2241bf" /><Relationship Type="http://schemas.openxmlformats.org/officeDocument/2006/relationships/notesMaster" Target="/ppt/notesMasters/notesMaster1.xml" Id="R9680c37f91d54c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00c83dfc464f4c" /><Relationship Type="http://schemas.openxmlformats.org/officeDocument/2006/relationships/notesMaster" Target="/ppt/notesMasters/notesMaster1.xml" Id="Raa311942dc044e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45ea6ade6c4c3c" /><Relationship Type="http://schemas.openxmlformats.org/officeDocument/2006/relationships/notesMaster" Target="/ppt/notesMasters/notesMaster1.xml" Id="Rf15e8a4f8fcb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仿真平台，项目结构与进展。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讲解重点：研究目标与当前边界。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讲解重点：项目结构与模块责任。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研究算法保持独立，ROS 2 与 Gazebo 作为后续外部适配层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讲解重点：闭环运行流程。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讲解重点：动力学与控制基线。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来源：docs/physics_v0.4_specification.md；docs/control_v0.5_specification.md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讲解重点：当前进度与证据层级。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以截至 9 月 15 日的仓库证据更新 9 月 10 日的 Word 计划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讲解重点：A* 几何规划已通过验收。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来源：docs/planner_m1_acceptance.md；artifacts/planner/m1_20260912/detour.png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讲解重点：轨迹基线已有时间参考。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来源：docs/trajectory_v0.7_specification.md；artifacts/trajectory/v07_20260912/detour.png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讲解重点：原始 M3 闭环结果。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来源：docs/navigation_v0.8_validation.md；2026-09-13 M3 审计。图中统计仅属于原始 M3，后续候选实验未替换此统计。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讲解重点：v0.5.1 恢复力前馈与限幅。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讲解重点：前馈改善了对角任务表现。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位置 / 速度 / 俯仰角速度 / 保持时间：0.25 m / 0.10 m/s / 0.10 rad/s / 0.5 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讲解重点：绕障终端残差的原因。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来源：docs/terminal_residual_classification_v051.md；本页对应仅启用 v0.5.1 前馈、未启用终端捕获的对照。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讲解重点：最新终端捕获候选结果。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候选策略采用先制动、受限转向、低速纠偏；默认关闭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来源：artifacts/navigation/terminal_capture_v1_20260915/summary.json；navigation/terminal_capture.py；validation/terminal_capture_acceptance.py；现有 622 项测试日志随实验归档，但不能据此声称新增策略拥有充分独立单元测试。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讲解重点：下一阶段的完成路径。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节；D:/UUV_Dissertation_One_Page_Progress_Brief_Bilingual.docx（2026-09-10）；artifacts/navigation/terminal_capture_v1_20260915/summary.json；navigation/terminal_capture.py；validation/terminal_capture_acceptance.py；本页为依据当前进度提出的后续顺序。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讲解重点：评价体系与公平比较。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讲解重点：计划中的算法改进与消融。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这些属于后续研究设计；每次只引入一个因素，并保留失败与代价权衡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节；D:/UUV_Dissertation_One_Page_Progress_Brief_Bilingual.docx（2026-09-10）；docs/detour_execution_margin_study.md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讲解重点：完成计划与内部目标。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月 30 日是内部规划目标，非已确认的学校截止日期；论文随实验持续更新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节；D:/UUV_Dissertation_One_Page_Progress_Brief_Bilingual.docx（2026-09-10）；根据已完成的 M1/M2 和最小 M3 调整近期工作窗口，非确认后的学校日程。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讲解重点：范围优先级。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讲解重点：主要风险与应对。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讲解重点：最终交付与讨论重点。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节；D:/UUV_Dissertation_One_Page_Progress_Brief_Bilingual.docx（2026-09-10）；发布内容为计划，尚未全部完成。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f352b766047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002b1facc42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09bd94c3748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8a37a95e249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31d6547f344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72a8caaec40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9c14d34e346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21f62f581457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6d15dfd7ca4b49" /><Relationship Type="http://schemas.openxmlformats.org/officeDocument/2006/relationships/slideLayout" Target="/ppt/slideLayouts/slideLayout1.xml" Id="Ra0a657bf9b794572" /><Relationship Type="http://schemas.openxmlformats.org/officeDocument/2006/relationships/slideLayout" Target="/ppt/slideLayouts/slideLayout2.xml" Id="R0382c61ad5b5460c" /><Relationship Type="http://schemas.openxmlformats.org/officeDocument/2006/relationships/slideLayout" Target="/ppt/slideLayouts/slideLayout3.xml" Id="R411156d60a934068" /><Relationship Type="http://schemas.openxmlformats.org/officeDocument/2006/relationships/slideLayout" Target="/ppt/slideLayouts/slideLayout4.xml" Id="Rcd1cd0390d6d41a7" /><Relationship Type="http://schemas.openxmlformats.org/officeDocument/2006/relationships/slideLayout" Target="/ppt/slideLayouts/slideLayout5.xml" Id="R0a3d2cab1c76486f" /><Relationship Type="http://schemas.openxmlformats.org/officeDocument/2006/relationships/slideLayout" Target="/ppt/slideLayouts/slideLayout6.xml" Id="Ra7d5e4fd656844ed" /><Relationship Type="http://schemas.openxmlformats.org/officeDocument/2006/relationships/slideLayout" Target="/ppt/slideLayouts/slideLayout7.xml" Id="Rce3f5df29ffb41cd" /><Relationship Type="http://schemas.openxmlformats.org/officeDocument/2006/relationships/slideLayout" Target="/ppt/slideLayouts/slideLayout8.xml" Id="R977b92cbbf5a40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657bf9b794572"/>
    <p:sldLayoutId xmlns:r="http://schemas.openxmlformats.org/officeDocument/2006/relationships" id="2147483650" r:id="R0382c61ad5b5460c"/>
    <p:sldLayoutId xmlns:r="http://schemas.openxmlformats.org/officeDocument/2006/relationships" id="2147483651" r:id="R411156d60a934068"/>
    <p:sldLayoutId xmlns:r="http://schemas.openxmlformats.org/officeDocument/2006/relationships" id="2147483652" r:id="Rcd1cd0390d6d41a7"/>
    <p:sldLayoutId xmlns:r="http://schemas.openxmlformats.org/officeDocument/2006/relationships" id="2147483653" r:id="R0a3d2cab1c76486f"/>
    <p:sldLayoutId xmlns:r="http://schemas.openxmlformats.org/officeDocument/2006/relationships" id="2147483654" r:id="Ra7d5e4fd656844ed"/>
    <p:sldLayoutId xmlns:r="http://schemas.openxmlformats.org/officeDocument/2006/relationships" id="2147483655" r:id="Rce3f5df29ffb41cd"/>
    <p:sldLayoutId xmlns:r="http://schemas.openxmlformats.org/officeDocument/2006/relationships" id="2147483656" r:id="R977b92cbbf5a402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d2ef95eae4fa6" /><Relationship Type="http://schemas.openxmlformats.org/officeDocument/2006/relationships/notesSlide" Target="/ppt/notesSlides/notesSlide1.xml" Id="R0ed323ef72d4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905e49fbd411e" /><Relationship Type="http://schemas.openxmlformats.org/officeDocument/2006/relationships/notesSlide" Target="/ppt/notesSlides/notesSlide2.xml" Id="R4f1c481538d1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58f4303de490b" /><Relationship Type="http://schemas.openxmlformats.org/officeDocument/2006/relationships/notesSlide" Target="/ppt/notesSlides/notesSlide3.xml" Id="R0b0cdcb29f1e49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4b281aaeb4d90" /><Relationship Type="http://schemas.openxmlformats.org/officeDocument/2006/relationships/notesSlide" Target="/ppt/notesSlides/notesSlide4.xml" Id="Rceb9864279cf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f4d540d2b4b69" /><Relationship Type="http://schemas.openxmlformats.org/officeDocument/2006/relationships/notesSlide" Target="/ppt/notesSlides/notesSlide5.xml" Id="R0ac2ec99401e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ed7d598794cdb" /><Relationship Type="http://schemas.openxmlformats.org/officeDocument/2006/relationships/notesSlide" Target="/ppt/notesSlides/notesSlide6.xml" Id="Ree53d10ac33044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d7b055ddf4c9c" /><Relationship Type="http://schemas.openxmlformats.org/officeDocument/2006/relationships/image" Target="/ppt/media/image.png" Id="Rc3a2c14bd475460b" /><Relationship Type="http://schemas.openxmlformats.org/officeDocument/2006/relationships/notesSlide" Target="/ppt/notesSlides/notesSlide7.xml" Id="Rf7d746cc595e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a89f01ae94c0c" /><Relationship Type="http://schemas.openxmlformats.org/officeDocument/2006/relationships/image" Target="/ppt/media/image2.png" Id="R55e5f1421bde4d42" /><Relationship Type="http://schemas.openxmlformats.org/officeDocument/2006/relationships/notesSlide" Target="/ppt/notesSlides/notesSlide8.xml" Id="Rf305d21042494d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85cb478454b1b" /><Relationship Type="http://schemas.openxmlformats.org/officeDocument/2006/relationships/chart" Target="/ppt/slides/charts/chart1.xml" Id="Recae91187f1b44a0" /><Relationship Type="http://schemas.openxmlformats.org/officeDocument/2006/relationships/notesSlide" Target="/ppt/notesSlides/notesSlide9.xml" Id="R6fcd7c9bc37743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8a0ed18874f1c" /><Relationship Type="http://schemas.openxmlformats.org/officeDocument/2006/relationships/notesSlide" Target="/ppt/notesSlides/notesSlide10.xml" Id="R3a56336e1e9049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0a41836e9408a" /><Relationship Type="http://schemas.openxmlformats.org/officeDocument/2006/relationships/notesSlide" Target="/ppt/notesSlides/notesSlide11.xml" Id="R5259d3e6a47a46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6845bf09a460c" /><Relationship Type="http://schemas.openxmlformats.org/officeDocument/2006/relationships/notesSlide" Target="/ppt/notesSlides/notesSlide12.xml" Id="Ra3c421fff50a46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10c8c018b4368" /><Relationship Type="http://schemas.openxmlformats.org/officeDocument/2006/relationships/notesSlide" Target="/ppt/notesSlides/notesSlide13.xml" Id="Redffc94d8a4348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0b4cf33c44baa" /><Relationship Type="http://schemas.openxmlformats.org/officeDocument/2006/relationships/notesSlide" Target="/ppt/notesSlides/notesSlide14.xml" Id="R4b1182ac295d45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a8a3e2b434130" /><Relationship Type="http://schemas.openxmlformats.org/officeDocument/2006/relationships/notesSlide" Target="/ppt/notesSlides/notesSlide15.xml" Id="Rc3fd15b8872a44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e8d5f56334d25" /><Relationship Type="http://schemas.openxmlformats.org/officeDocument/2006/relationships/notesSlide" Target="/ppt/notesSlides/notesSlide16.xml" Id="R05d7be5af24a4b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53cea306040e2" /><Relationship Type="http://schemas.openxmlformats.org/officeDocument/2006/relationships/notesSlide" Target="/ppt/notesSlides/notesSlide17.xml" Id="R9ed85df5f31944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cee7718ee4576" /><Relationship Type="http://schemas.openxmlformats.org/officeDocument/2006/relationships/notesSlide" Target="/ppt/notesSlides/notesSlide18.xml" Id="R458f705c1f3648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434ce1e2c4e7e" /><Relationship Type="http://schemas.openxmlformats.org/officeDocument/2006/relationships/notesSlide" Target="/ppt/notesSlides/notesSlide19.xml" Id="R85e03b3c39454d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0ed9c6bc2464a" /><Relationship Type="http://schemas.openxmlformats.org/officeDocument/2006/relationships/notesSlide" Target="/ppt/notesSlides/notesSlide20.xml" Id="R443022ab4cf64a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16 个场景的终止状态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成功</c:v>
                </c:pt>
                <c:pt idx="1">
                  <c:v>超时</c:v>
                </c:pt>
                <c:pt idx="2">
                  <c:v>碰撞</c:v>
                </c:pt>
                <c:pt idx="3">
                  <c:v>越界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规划、轨迹生成、闭环控制与实验评价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ISM-DISS-05863   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详细汇报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研究目标与当前边界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几何上无碰撞的路径，能否由欠驱动 UUV 安全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执行并稳定到达终点？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建立统一平台，分开评价规划质量、跟踪表现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与完整任务结果。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当前研究范围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垂直 x–z 平面，纵荡、升沉、俯仰 3 自由度。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静态障碍、无流与恒定海流，A* 与级联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物理参数为合成测试配置，尚无真实艇验证。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项目结构与模块责任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研究算法保持独立，ROS 2 与 Gazebo 作为后续外部适配层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33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接口或产物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不可变数据与坐标、向量约定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VehicleState / Path / 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边界、障碍、净空与海流查询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WorldModel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搜索与完整路径验证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PlanningResult /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安全捷径、重采样与时间参数化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带时间的参考状态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跟踪参考 / 推进非线性动力学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ControlInput / 新状态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/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任务调度、安全检查、终止与配置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任务结果、历史与指标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/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绘图、验收与证据归档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图、JSON、日志、哈希清单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闭环运行流程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几何规划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任务与环境交给 A*，生成无时间戳的 Path。每条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边进行连续碰撞验证。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参考轨迹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安全简化与重采样后分配时间。Simulation 按当前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时刻采样参考状态。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控制输入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比较当前状态与参考，输出有界纵向力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和俯仰力矩。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状态反馈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Physics 推进状态，再反馈给控制器。Navigation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检查实际运动段、到达与超时。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动力学与控制基线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合成 3-DOF 动力学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保留纵荡 u、升沉 w、俯仰 q，以及 x、z、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pitch。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世界坐标采用 ENU，艇体速度采用 SNAME 约定。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固定步长积分，默认 RK4。海流通过相对速度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进入模型。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欠驱动级联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位置外环生成纵向速度，深度误差修正俯仰目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直接输入为纵向力与俯仰力矩，升沉力恒为零。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输出仍是广义力，尚未建立推进器、舵面与分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配模型。</a:t>
            </a:r>
          </a:p>
        </p:txBody>
      </p:sp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当前进度与证据层级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以截至 9 月 15 日的仓库证据更新 9 月 10 日的 Word 计划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495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Environment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已完成既定范围验证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3-DOF、静态世界、合成参数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v0.6b / 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绕障、窄通道、不可达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v0.7 /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个可达场景，不保证动态可行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v0.8 / 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最小闭环已验证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案例有 9 个任务失败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 v0.5.1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可选控制功能已验证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项测试通过，默认前馈仍关闭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已有对照实验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低速绕障成功，待全场景回归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 / ROS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尚未形成完整发布证据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几何规划已通过验收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有界栅格搜索与 4/8 邻接。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考虑艇体半径与安全余量，拒绝对角切角。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绕障路径长 10.071 m，扩展 145 个节点。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该结果证明几何路径有效，执行安全仍需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闭环实验。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2c14bd475460b"/>
          <a:stretch xmlns:a="http://schemas.openxmlformats.org/drawingml/2006/main"/>
        </p:blipFill>
        <p:spPr>
          <a:xfrm xmlns:a="http://schemas.openxmlformats.org/drawingml/2006/main">
            <a:off x="5499735" y="1181100"/>
            <a:ext cx="5897880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轨迹基线已有时间参考</a:t>
            </a:r>
          </a:p>
        </p:txBody>
      </p:sp>
      <p:sp>
        <p:nvSpPr>
          <p:cNvPr id="534" name="caption">
            <a:extLst xmlns:a="http://schemas.openxmlformats.org/drawingml/2006/main">
              <a:ext uri="{FF2B5EF4-FFF2-40B4-BE49-F238E27FC236}">
                <a16:creationId xmlns:a16="http://schemas.microsoft.com/office/drawing/2014/main" id="{2162C486-E0E0-40BD-B0AB-15C6D0B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1401425" cy="638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安全捷径与距离重采样后，生成恒速时间参考。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转角处俯仰参考仍不连续，尚无加速度或有限转弯率保证。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5f1421bde4d42"/>
          <a:stretch xmlns:a="http://schemas.openxmlformats.org/drawingml/2006/main"/>
        </p:blipFill>
        <p:spPr>
          <a:xfrm xmlns:a="http://schemas.openxmlformats.org/drawingml/2006/main">
            <a:off x="2544762" y="1200150"/>
            <a:ext cx="706437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M3 闭环结果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场景总数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47825"/>
            <a:ext cx="5334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成功与失败均有记录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水平、静态窄通道及轴向恒流已有通过案例。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对角终端停留、绕障和垂向流仍暴露局限。</a:t>
            </a:r>
          </a:p>
        </p:txBody>
      </p:sp>
      <p:sp>
        <p:nvSpPr>
          <p:cNvPr id="43" name="foot">
            <a:extLst xmlns:a="http://schemas.openxmlformats.org/drawingml/2006/main">
              <a:ext uri="{FF2B5EF4-FFF2-40B4-BE49-F238E27FC236}">
                <a16:creationId xmlns:a16="http://schemas.microsoft.com/office/drawing/2014/main" id="{34D8053F-C920-4A26-825E-75CBB0FE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1095375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历史基线：7 SUCCESS、2 TIMEOUT、6 COLLISION、1 OUT_OF_BOUNDS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90525" y="1666875"/>
          <a:ext xmlns:a="http://schemas.openxmlformats.org/drawingml/2006/main" cx="54292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ae91187f1b44a0"/>
          </a:graphicData>
        </a:graphic>
      </p:graphicFrame>
    </p:spTree>
    <p:extLst>
      <p:ext uri="{BB962C8B-B14F-4D97-AF65-F5344CB8AC3E}">
        <p14:creationId xmlns:p14="http://schemas.microsoft.com/office/powerpoint/2010/main" val="7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v0.5.1 恢复力前馈与限幅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控制改进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按实际俯仰角补偿合成模型的恢复力矩。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PID、前馈与积分先合成，再使用统一有效上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限裁剪。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控制器与 Navigation 共享本周期限值，抗饱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和使用相同约束。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完整测试记录为 622 passed，无跳过。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 个真实模块案例各运行两次，记录一致。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旧配置默认系数为 0。系数 6 N·m 的候选配置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需显式启用。</a:t>
            </a:r>
          </a:p>
        </p:txBody>
      </p:sp>
    </p:spTree>
    <p:extLst>
      <p:ext uri="{BB962C8B-B14F-4D97-AF65-F5344CB8AC3E}">
        <p14:creationId xmlns:p14="http://schemas.microsoft.com/office/powerpoint/2010/main" val="7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前馈改善了对角任务表现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 / 速度 / 俯仰角速度 / 保持时间：0.25 m / 0.10 m/s / 0.10 rad/s / 0.5 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428750"/>
                <a:gridCol w="530542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终端位置误差 / 说明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前馈关闭，升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0.2621 m，保留原始基线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0.2142 m，23.85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 4.8 / 7.2，升 / 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仅为 ±20% 系数偏差试验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俯仰力矩上限 0.5 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1.2147 m，控制权限不足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前馈候选，绕障 0.2 /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0.2872 / 0.4150 m，无碰撞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绕障终端残差的原因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观测到的现象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前馈候选最终几乎静止，但仍离目标 0.287 /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0.415 m。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沿实际艇体朝向的误差投影接近零，因此纵向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速度目标也接近零。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末段法向残差仍大，当前欠驱动终端保持无法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直接消除它。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研究含义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轨迹末段与转弯已带来误差，残差并非完全由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刹车产生。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实验显示模型具备主动制动能力。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后续需要有约束的终端位置捕获，并独立评价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末段减速。</a:t>
            </a:r>
          </a:p>
        </p:txBody>
      </p:sp>
    </p:spTree>
    <p:extLst>
      <p:ext uri="{BB962C8B-B14F-4D97-AF65-F5344CB8AC3E}">
        <p14:creationId xmlns:p14="http://schemas.microsoft.com/office/powerpoint/2010/main" val="7000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最新终端捕获候选结果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候选策略采用先制动、受限转向、低速纠偏；默认关闭</a:t>
            </a:r>
          </a:p>
        </p:txBody>
      </p:sp>
      <p:sp>
        <p:nvSpPr>
          <p:cNvPr id="534" name="caveat">
            <a:extLst xmlns:a="http://schemas.openxmlformats.org/drawingml/2006/main">
              <a:ext uri="{FF2B5EF4-FFF2-40B4-BE49-F238E27FC236}">
                <a16:creationId xmlns:a16="http://schemas.microsoft.com/office/drawing/2014/main" id="{7ED9513C-4F14-4349-864A-397146E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10953750" cy="428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两条绕障轨迹的额外障碍余量仅约 27 mm / 8 mm，尚不能称为稳健安全配置</a:t>
            </a:r>
          </a:p>
        </p:txBody>
      </p:sp>
      <p:graphicFrame>
        <p:nvGraphicFramePr>
          <p:cNvPr id="541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29000"/>
                <a:gridCol w="4257675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固定前馈配置下的案例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原终端保持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启用终端捕获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0.2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0.287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成功，0.229 m，66.50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0.415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成功，0.233 m，56.10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孤立横向偏差 / 混合偏差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原水平、上升、下降任务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个案例仍成功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组启用 / 关闭对照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未完成原始 M3 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下一阶段的完成路径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当前优先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基线稳定后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转弯与执行余量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分别研究末段减速、转弯参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考与规划净空，避免同时改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动失去归因。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终端策略验收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补充边界与失败测试，固定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候选参数，复验原始 16 场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景。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Benchmark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冻结地图、物理、控制与终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止条件，形成可复现对比结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果。</a:t>
            </a:r>
          </a:p>
        </p:txBody>
      </p:sp>
    </p:spTree>
    <p:extLst>
      <p:ext uri="{BB962C8B-B14F-4D97-AF65-F5344CB8AC3E}">
        <p14:creationId xmlns:p14="http://schemas.microsoft.com/office/powerpoint/2010/main" val="7000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评价体系与公平比较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路径有效率、长度、连续净空、转角指标、规划时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间与扩展节点。固定地图和请求。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 RMSE、最大误差、终端误差、输入饱和与计算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时间。固定参考轨迹。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成功、碰撞、越界、完成时间、实际轨迹最小余量。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固定物理模型和终止阈值。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每次运行保存配置、结果、完整历史、图和哈希清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单。输入代价仅作为代理指标。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700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计划中的算法改进与消融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这些属于后续研究设计；每次只引入一个因素，并保留失败与代价权衡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86250"/>
                <a:gridCol w="425767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希望解决的问题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比较时保持一致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A* 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提供统一起点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地图、网格、碰撞验证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增加规划余量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执行偏差侵蚀几何净空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实际运动安全阈值不变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增加转弯代价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路径转角对跟踪不友好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控制器与速度策略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转弯与末段误差较大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路径与控制器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海流 / 运动感知代价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规划结果与可执行性脱节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场景、物理与终止条件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完成计划与内部目标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 30 日是内部规划目标，非已确认的学校截止日期；论文随实验持续更新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10000"/>
                <a:gridCol w="4162425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建议窗口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阶段退出证据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月下旬至 10 月上旬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终端捕获、转弯与执行安全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候选验收与全场景回归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月中下旬至 11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Benchmark 并批量实验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配置矩阵、原始指标和核心图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2–8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规划改进与消融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公平对照与导师讨论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9–15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2 薄适配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可启动并复现的 ROS 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16–22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缓冲或一个条件扩展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核心证据与写作优先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23–30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功能冻结、论文与发布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干净环境复现、最终图表和说明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范围优先级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525" y="2428875"/>
            <a:ext cx="35718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可靠的 3-DOF 静态闭环。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无流 / 恒流实验。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 基线、Benchmark、论文与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可复现发布。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0075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条件扩展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RRT* 或 RL 需导师选择。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动态障碍与复杂海流按时间和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证据决定。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05300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海流或运动感知规划。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针对失败模式的消融。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适配与完整运行案例。</a:t>
            </a:r>
          </a:p>
        </p:txBody>
      </p:sp>
    </p:spTree>
    <p:extLst>
      <p:ext uri="{BB962C8B-B14F-4D97-AF65-F5344CB8AC3E}">
        <p14:creationId xmlns:p14="http://schemas.microsoft.com/office/powerpoint/2010/main" val="7000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终端成功但净空过小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把障碍余量列为独立验收项，增加初始状态与参数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扰动测试。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多项改动难以归因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固定控制与场景，分别比较终端、速度和规划策略。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外部集成拖延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保持核心 Python 独立运行。ROS 2 使用薄适配，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Gazebo 可移至后续。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论文证据积压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每个里程碑同步更新方法、结果与局限。延期时先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压缩条件扩展。</a:t>
            </a:r>
          </a:p>
        </p:txBody>
      </p:sp>
    </p:spTree>
    <p:extLst>
      <p:ext uri="{BB962C8B-B14F-4D97-AF65-F5344CB8AC3E}">
        <p14:creationId xmlns:p14="http://schemas.microsoft.com/office/powerpoint/2010/main" val="7000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最终交付与讨论重点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模块化仿真代码与版本化配置。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 Benchmark、成功和失败案例及论文图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运行说明、局限说明与 ROS 2 演示案例。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需要讨论的选择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确认当前静态 3-DOF 范围与验收指标。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明确规划改进的首要研究问题。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核心证据稳定后，再决定 RRT*、RL 或其他单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一扩展。</a:t>
            </a:r>
          </a:p>
        </p:txBody>
      </p:sp>
    </p:spTree>
    <p:extLst>
      <p:ext uri="{BB962C8B-B14F-4D97-AF65-F5344CB8AC3E}">
        <p14:creationId xmlns:p14="http://schemas.microsoft.com/office/powerpoint/2010/main" val="70001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2026-09-16T08:39:04.8000000Z</dcterms:created>
  <dcterms:modified xsi:type="dcterms:W3CDTF">2026-09-16T08:39:04.8000000Z</dcterms:modified>
</coreProperties>
</file>