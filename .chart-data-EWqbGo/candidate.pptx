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b3486255c243f3" /><Relationship Type="http://schemas.openxmlformats.org/officeDocument/2006/relationships/extended-properties" Target="/docProps/app.xml" Id="R24aadd45dab94886" /><Relationship Type="http://schemas.openxmlformats.org/officeDocument/2006/relationships/officeDocument" Target="/ppt/presentation.xml" Id="R1e31b674920343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50bd34763040c6"/>
  </p:sldMasterIdLst>
  <p:notesMasterIdLst>
    <p:notesMasterId xmlns:r="http://schemas.openxmlformats.org/officeDocument/2006/relationships" r:id="R26ea41995c744d81"/>
  </p:notesMasterIdLst>
  <p:sldIdLst>
    <p:sldId xmlns:r="http://schemas.openxmlformats.org/officeDocument/2006/relationships" id="256" r:id="R35c8b305af6d4c28"/>
    <p:sldId xmlns:r="http://schemas.openxmlformats.org/officeDocument/2006/relationships" id="257" r:id="Re25f0cce8fa145f3"/>
    <p:sldId xmlns:r="http://schemas.openxmlformats.org/officeDocument/2006/relationships" id="258" r:id="Rf1361167853e497b"/>
    <p:sldId xmlns:r="http://schemas.openxmlformats.org/officeDocument/2006/relationships" id="259" r:id="R6f0127db32f24503"/>
    <p:sldId xmlns:r="http://schemas.openxmlformats.org/officeDocument/2006/relationships" id="260" r:id="R39454d6ca3c8486b"/>
    <p:sldId xmlns:r="http://schemas.openxmlformats.org/officeDocument/2006/relationships" id="261" r:id="R7b19846c256a41bf"/>
    <p:sldId xmlns:r="http://schemas.openxmlformats.org/officeDocument/2006/relationships" id="262" r:id="Rf658057f72b6436a"/>
    <p:sldId xmlns:r="http://schemas.openxmlformats.org/officeDocument/2006/relationships" id="263" r:id="R782aedc7bfcb44df"/>
    <p:sldId xmlns:r="http://schemas.openxmlformats.org/officeDocument/2006/relationships" id="264" r:id="R9cbc75a9408948f2"/>
    <p:sldId xmlns:r="http://schemas.openxmlformats.org/officeDocument/2006/relationships" id="265" r:id="R36177421bfe24c5f"/>
    <p:sldId xmlns:r="http://schemas.openxmlformats.org/officeDocument/2006/relationships" id="266" r:id="R9d19992a70d74d12"/>
    <p:sldId xmlns:r="http://schemas.openxmlformats.org/officeDocument/2006/relationships" id="267" r:id="Re47ae9cd07df446b"/>
    <p:sldId xmlns:r="http://schemas.openxmlformats.org/officeDocument/2006/relationships" id="268" r:id="R9d7feea3a24a48e0"/>
    <p:sldId xmlns:r="http://schemas.openxmlformats.org/officeDocument/2006/relationships" id="269" r:id="Rf454d02df8c343b6"/>
    <p:sldId xmlns:r="http://schemas.openxmlformats.org/officeDocument/2006/relationships" id="270" r:id="R778809e3528a4278"/>
    <p:sldId xmlns:r="http://schemas.openxmlformats.org/officeDocument/2006/relationships" id="271" r:id="R2c81239217fc40e0"/>
    <p:sldId xmlns:r="http://schemas.openxmlformats.org/officeDocument/2006/relationships" id="272" r:id="R8d5403e49b494419"/>
    <p:sldId xmlns:r="http://schemas.openxmlformats.org/officeDocument/2006/relationships" id="273" r:id="R92167c6c82bd4d97"/>
    <p:sldId xmlns:r="http://schemas.openxmlformats.org/officeDocument/2006/relationships" id="274" r:id="Rc013ed2a4e404451"/>
    <p:sldId xmlns:r="http://schemas.openxmlformats.org/officeDocument/2006/relationships" id="275" r:id="Rde41a55eac884a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5acdcbf5434771" /><Relationship Type="http://schemas.openxmlformats.org/officeDocument/2006/relationships/slideMaster" Target="/ppt/slideMasters/slideMaster1.xml" Id="R9a50bd34763040c6" /><Relationship Type="http://schemas.openxmlformats.org/officeDocument/2006/relationships/notesMaster" Target="/ppt/notesMasters/notesMaster1.xml" Id="R26ea41995c744d81" /><Relationship Type="http://schemas.openxmlformats.org/officeDocument/2006/relationships/presProps" Target="/ppt/presProps.xml" Id="R59fae1fa26ce4306" /><Relationship Type="http://schemas.openxmlformats.org/officeDocument/2006/relationships/viewProps" Target="/ppt/viewProps.xml" Id="R9f124748ee3c4565" /><Relationship Type="http://schemas.openxmlformats.org/officeDocument/2006/relationships/tableStyles" Target="/ppt/tableStyles.xml" Id="R2029faffee8943e3" /><Relationship Type="http://schemas.openxmlformats.org/officeDocument/2006/relationships/slide" Target="/ppt/slides/slide1.xml" Id="R35c8b305af6d4c28" /><Relationship Type="http://schemas.openxmlformats.org/officeDocument/2006/relationships/slide" Target="/ppt/slides/slide2.xml" Id="Re25f0cce8fa145f3" /><Relationship Type="http://schemas.openxmlformats.org/officeDocument/2006/relationships/slide" Target="/ppt/slides/slide3.xml" Id="Rf1361167853e497b" /><Relationship Type="http://schemas.openxmlformats.org/officeDocument/2006/relationships/slide" Target="/ppt/slides/slide4.xml" Id="R6f0127db32f24503" /><Relationship Type="http://schemas.openxmlformats.org/officeDocument/2006/relationships/slide" Target="/ppt/slides/slide5.xml" Id="R39454d6ca3c8486b" /><Relationship Type="http://schemas.openxmlformats.org/officeDocument/2006/relationships/slide" Target="/ppt/slides/slide6.xml" Id="R7b19846c256a41bf" /><Relationship Type="http://schemas.openxmlformats.org/officeDocument/2006/relationships/slide" Target="/ppt/slides/slide7.xml" Id="Rf658057f72b6436a" /><Relationship Type="http://schemas.openxmlformats.org/officeDocument/2006/relationships/slide" Target="/ppt/slides/slide8.xml" Id="R782aedc7bfcb44df" /><Relationship Type="http://schemas.openxmlformats.org/officeDocument/2006/relationships/slide" Target="/ppt/slides/slide9.xml" Id="R9cbc75a9408948f2" /><Relationship Type="http://schemas.openxmlformats.org/officeDocument/2006/relationships/slide" Target="/ppt/slides/slide10.xml" Id="R36177421bfe24c5f" /><Relationship Type="http://schemas.openxmlformats.org/officeDocument/2006/relationships/slide" Target="/ppt/slides/slide11.xml" Id="R9d19992a70d74d12" /><Relationship Type="http://schemas.openxmlformats.org/officeDocument/2006/relationships/slide" Target="/ppt/slides/slide12.xml" Id="Re47ae9cd07df446b" /><Relationship Type="http://schemas.openxmlformats.org/officeDocument/2006/relationships/slide" Target="/ppt/slides/slide13.xml" Id="R9d7feea3a24a48e0" /><Relationship Type="http://schemas.openxmlformats.org/officeDocument/2006/relationships/slide" Target="/ppt/slides/slide14.xml" Id="Rf454d02df8c343b6" /><Relationship Type="http://schemas.openxmlformats.org/officeDocument/2006/relationships/slide" Target="/ppt/slides/slide15.xml" Id="R778809e3528a4278" /><Relationship Type="http://schemas.openxmlformats.org/officeDocument/2006/relationships/slide" Target="/ppt/slides/slide16.xml" Id="R2c81239217fc40e0" /><Relationship Type="http://schemas.openxmlformats.org/officeDocument/2006/relationships/slide" Target="/ppt/slides/slide17.xml" Id="R8d5403e49b494419" /><Relationship Type="http://schemas.openxmlformats.org/officeDocument/2006/relationships/slide" Target="/ppt/slides/slide18.xml" Id="R92167c6c82bd4d97" /><Relationship Type="http://schemas.openxmlformats.org/officeDocument/2006/relationships/slide" Target="/ppt/slides/slide19.xml" Id="Rc013ed2a4e404451" /><Relationship Type="http://schemas.openxmlformats.org/officeDocument/2006/relationships/slide" Target="/ppt/slides/slide20.xml" Id="Rde41a55eac884a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2eaf2a513649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e98723fb1944c7" /><Relationship Type="http://schemas.openxmlformats.org/officeDocument/2006/relationships/notesMaster" Target="/ppt/notesMasters/notesMaster1.xml" Id="R6c6f600504a647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236987909540af" /><Relationship Type="http://schemas.openxmlformats.org/officeDocument/2006/relationships/notesMaster" Target="/ppt/notesMasters/notesMaster1.xml" Id="Rb96c3048913f40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c55cc44a174129" /><Relationship Type="http://schemas.openxmlformats.org/officeDocument/2006/relationships/notesMaster" Target="/ppt/notesMasters/notesMaster1.xml" Id="R4787e7d721984b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17e0778c9f4708" /><Relationship Type="http://schemas.openxmlformats.org/officeDocument/2006/relationships/notesMaster" Target="/ppt/notesMasters/notesMaster1.xml" Id="R5de859321ae04e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9eacdb5cf240e7" /><Relationship Type="http://schemas.openxmlformats.org/officeDocument/2006/relationships/notesMaster" Target="/ppt/notesMasters/notesMaster1.xml" Id="R321eade704f442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b84b3f15ad49ee" /><Relationship Type="http://schemas.openxmlformats.org/officeDocument/2006/relationships/notesMaster" Target="/ppt/notesMasters/notesMaster1.xml" Id="R9383dc8e1fda43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82b8be05114d5a" /><Relationship Type="http://schemas.openxmlformats.org/officeDocument/2006/relationships/notesMaster" Target="/ppt/notesMasters/notesMaster1.xml" Id="R13be5682cfc74b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ee070160504108" /><Relationship Type="http://schemas.openxmlformats.org/officeDocument/2006/relationships/notesMaster" Target="/ppt/notesMasters/notesMaster1.xml" Id="Rc4a716583f5c48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13361e246a43c2" /><Relationship Type="http://schemas.openxmlformats.org/officeDocument/2006/relationships/notesMaster" Target="/ppt/notesMasters/notesMaster1.xml" Id="R2511dca7a6224c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77a0bf98004b78" /><Relationship Type="http://schemas.openxmlformats.org/officeDocument/2006/relationships/notesMaster" Target="/ppt/notesMasters/notesMaster1.xml" Id="Rc02125e96bf54a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e6fdd690c3e4f49" /><Relationship Type="http://schemas.openxmlformats.org/officeDocument/2006/relationships/notesMaster" Target="/ppt/notesMasters/notesMaster1.xml" Id="R4d1230883af547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3a6988fd094a5d" /><Relationship Type="http://schemas.openxmlformats.org/officeDocument/2006/relationships/notesMaster" Target="/ppt/notesMasters/notesMaster1.xml" Id="R73020b15bb7446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ca19f113b74d9a" /><Relationship Type="http://schemas.openxmlformats.org/officeDocument/2006/relationships/notesMaster" Target="/ppt/notesMasters/notesMaster1.xml" Id="Rc1102943e0594ec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ccb5ff5d15d4cc3" /><Relationship Type="http://schemas.openxmlformats.org/officeDocument/2006/relationships/notesMaster" Target="/ppt/notesMasters/notesMaster1.xml" Id="R40eed7ce9b0b47a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876b5c693bb4210" /><Relationship Type="http://schemas.openxmlformats.org/officeDocument/2006/relationships/notesMaster" Target="/ppt/notesMasters/notesMaster1.xml" Id="Rb2603ed0d602420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c93118c54f443ca" /><Relationship Type="http://schemas.openxmlformats.org/officeDocument/2006/relationships/notesMaster" Target="/ppt/notesMasters/notesMaster1.xml" Id="Rbd02ba44d8fc40c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965e89e970446e9" /><Relationship Type="http://schemas.openxmlformats.org/officeDocument/2006/relationships/notesMaster" Target="/ppt/notesMasters/notesMaster1.xml" Id="Rdb2dd86188cf49a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9387cabfea44299" /><Relationship Type="http://schemas.openxmlformats.org/officeDocument/2006/relationships/notesMaster" Target="/ppt/notesMasters/notesMaster1.xml" Id="R63ff1e9ed938426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014f7d930e04f59" /><Relationship Type="http://schemas.openxmlformats.org/officeDocument/2006/relationships/notesMaster" Target="/ppt/notesMasters/notesMaster1.xml" Id="R6f3f3a1da6024e4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86bb08ca3e943d3" /><Relationship Type="http://schemas.openxmlformats.org/officeDocument/2006/relationships/notesMaster" Target="/ppt/notesMasters/notesMaster1.xml" Id="Rc4fc7fc8d8b747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讲解重点：UUV 仿真平台，项目结构与进展。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来源：README.md；docs/navigation_v0.8_validation.md；docs/control_v0.5.1_validation.md；D:/UUV_Project_Audit_and_Delivery_Plan_Bilingual_v1.0.docx，第 4–11 节；D:/UUV_Dissertation_One_Page_Progress_Brief_Bilingual.docx（2026-09-10）</a:t>
            </a:r>
            <a:endParaRPr/>
          </a:p>
          <a:p xmlns:a="http://schemas.openxmlformats.org/drawingml/2006/main"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讲解重点：研究目标与当前边界。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来源：README.md；docs/navigation_v0.8_validation.md；docs/control_v0.5.1_validation.md；D:/UUV_Project_Audit_and_Delivery_Plan_Bilingual_v1.0.docx，第 4–11 节；D:/UUV_Dissertation_One_Page_Progress_Brief_Bilingual.docx（2026-09-10）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讲解重点：项目结构与模块责任。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研究算法保持独立，ROS 2 与 Gazebo 作为后续外部适配层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来源：README.md；docs/navigation_v0.8_validation.md；docs/control_v0.5.1_validation.md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讲解重点：闭环运行流程。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来源：README.md；docs/navigation_v0.8_validation.md；docs/control_v0.5.1_validation.md；docs/navigation_v0.8_specification.md</a:t>
            </a:r>
          </a:p>
          <a:p xmlns:a="http://schemas.openxmlformats.org/drawingml/2006/main">
            <a:r>
              <a:t>状态截至 2026-09-15，汇报日期 2026-09-16。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讲解重点：动力学与控制基线。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来源：docs/physics_v0.4_specification.md；docs/control_v0.5_specification.md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讲解重点：当前进度与证据层级。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以截至 9 月 15 日的仓库证据更新 9 月 10 日的 Word 计划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来源：README.md；docs/navigation_v0.8_validation.md；docs/control_v0.5.1_validation.md；artifacts/navigation/terminal_capture_v1_20260915/summary.json；navigation/terminal_capture.py；validation/terminal_capture_acceptance.py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讲解重点：A* 几何规划已通过验收。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来源：docs/planner_m1_acceptance.md；artifacts/planner/m1_20260912/detour.png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讲解重点：轨迹基线已有时间参考。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来源：docs/trajectory_v0.7_specification.md；artifacts/trajectory/v07_20260912/detour.png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讲解重点：原始 M3 闭环结果。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来源：docs/navigation_v0.8_validation.md；2026-09-13 M3 审计。图中统计仅属于原始 M3，后续候选实验未替换此统计。</a:t>
            </a:r>
          </a:p>
          <a:p xmlns:a="http://schemas.openxmlformats.org/drawingml/2006/main">
            <a:r>
              <a:t>状态截至 2026-09-15，汇报日期 2026-09-16。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讲解重点：v0.5.1 恢复力前馈与限幅。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来源：docs/control_v0.5.1_validation.md；artifacts/controller/v051_20260915/pytest.log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讲解重点：前馈改善了对角任务表现。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位置 / 速度 / 俯仰角速度 / 保持时间：0.25 m / 0.10 m/s / 0.10 rad/s / 0.5 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来源：docs/control_v0.5.1_validation.md；artifacts/controller/v051_20260915/pytest.log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讲解重点：绕障终端残差的原因。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来源：docs/terminal_residual_classification_v051.md；本页对应仅启用 v0.5.1 前馈、未启用终端捕获的对照。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讲解重点：最新终端捕获候选结果。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候选策略采用先制动、受限转向、低速纠偏；默认关闭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来源：artifacts/navigation/terminal_capture_v1_20260915/summary.json；navigation/terminal_capture.py；validation/terminal_capture_acceptance.py；现有 622 项测试日志随实验归档，但不能据此声称新增策略拥有充分独立单元测试。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讲解重点：下一阶段的完成路径。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来源：D:/UUV_Project_Audit_and_Delivery_Plan_Bilingual_v1.0.docx，第 4–11 节；D:/UUV_Dissertation_One_Page_Progress_Brief_Bilingual.docx（2026-09-10）；artifacts/navigation/terminal_capture_v1_20260915/summary.json；navigation/terminal_capture.py；validation/terminal_capture_acceptance.py；本页为依据当前进度提出的后续顺序。</a:t>
            </a:r>
          </a:p>
          <a:p xmlns:a="http://schemas.openxmlformats.org/drawingml/2006/main">
            <a:r>
              <a:t>状态截至 2026-09-15，汇报日期 2026-09-16。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讲解重点：评价体系与公平比较。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来源：D:/UUV_Project_Audit_and_Delivery_Plan_Bilingual_v1.0.docx，第 4–11 节；D:/UUV_Dissertation_One_Page_Progress_Brief_Bilingual.docx（2026-09-10）；docs/navigation_v0.8_specification.md</a:t>
            </a:r>
          </a:p>
          <a:p xmlns:a="http://schemas.openxmlformats.org/drawingml/2006/main">
            <a:r>
              <a:t>状态截至 2026-09-15，汇报日期 2026-09-16。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讲解重点：计划中的算法改进与消融。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这些属于后续研究设计；每次只引入一个因素，并保留失败与代价权衡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来源：D:/UUV_Project_Audit_and_Delivery_Plan_Bilingual_v1.0.docx，第 4–11 节；D:/UUV_Dissertation_One_Page_Progress_Brief_Bilingual.docx（2026-09-10）；docs/detour_execution_margin_study.md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讲解重点：完成计划与内部目标。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11 月 30 日是内部规划目标，非已确认的学校截止日期；论文随实验持续更新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来源：D:/UUV_Project_Audit_and_Delivery_Plan_Bilingual_v1.0.docx，第 4–11 节；D:/UUV_Dissertation_One_Page_Progress_Brief_Bilingual.docx（2026-09-10）；根据已完成的 M1/M2 和最小 M3 调整近期工作窗口，非确认后的学校日程。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讲解重点：范围优先级。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来源：D:/UUV_Project_Audit_and_Delivery_Plan_Bilingual_v1.0.docx，第 4–11 节；D:/UUV_Dissertation_One_Page_Progress_Brief_Bilingual.docx（2026-09-10）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讲解重点：主要风险与应对。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来源：D:/UUV_Project_Audit_and_Delivery_Plan_Bilingual_v1.0.docx，第 4–11 节；D:/UUV_Dissertation_One_Page_Progress_Brief_Bilingual.docx（2026-09-10）；artifacts/navigation/terminal_capture_v1_20260915/summary.json；navigation/terminal_capture.py；validation/terminal_capture_acceptance.py</a:t>
            </a:r>
          </a:p>
          <a:p xmlns:a="http://schemas.openxmlformats.org/drawingml/2006/main">
            <a:r>
              <a:t>状态截至 2026-09-15，汇报日期 2026-09-16。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讲解重点：最终交付与讨论重点。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来源：D:/UUV_Project_Audit_and_Delivery_Plan_Bilingual_v1.0.docx，第 4–11 节；D:/UUV_Dissertation_One_Page_Progress_Brief_Bilingual.docx（2026-09-10）；发布内容为计划，尚未全部完成。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087314f31b487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91df7b23ee4dc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a1696162504b4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19eba4790b440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b51a63cf8f465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4e0e733d5f4e2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503a0de1354a4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5d86e92c4d4351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5f29e032f94399" /><Relationship Type="http://schemas.openxmlformats.org/officeDocument/2006/relationships/slideLayout" Target="/ppt/slideLayouts/slideLayout1.xml" Id="R7c3f1ba2cd1c4690" /><Relationship Type="http://schemas.openxmlformats.org/officeDocument/2006/relationships/slideLayout" Target="/ppt/slideLayouts/slideLayout2.xml" Id="R539720bab8b647d9" /><Relationship Type="http://schemas.openxmlformats.org/officeDocument/2006/relationships/slideLayout" Target="/ppt/slideLayouts/slideLayout3.xml" Id="R336c784d9a014e9b" /><Relationship Type="http://schemas.openxmlformats.org/officeDocument/2006/relationships/slideLayout" Target="/ppt/slideLayouts/slideLayout4.xml" Id="R91bc2213e23642f5" /><Relationship Type="http://schemas.openxmlformats.org/officeDocument/2006/relationships/slideLayout" Target="/ppt/slideLayouts/slideLayout5.xml" Id="Rf6915fadb0854ca1" /><Relationship Type="http://schemas.openxmlformats.org/officeDocument/2006/relationships/slideLayout" Target="/ppt/slideLayouts/slideLayout6.xml" Id="R541eef75dbc647f6" /><Relationship Type="http://schemas.openxmlformats.org/officeDocument/2006/relationships/slideLayout" Target="/ppt/slideLayouts/slideLayout7.xml" Id="Rf1f41b9a357f42d6" /><Relationship Type="http://schemas.openxmlformats.org/officeDocument/2006/relationships/slideLayout" Target="/ppt/slideLayouts/slideLayout8.xml" Id="R151080b0804c474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3f1ba2cd1c4690"/>
    <p:sldLayoutId xmlns:r="http://schemas.openxmlformats.org/officeDocument/2006/relationships" id="2147483650" r:id="R539720bab8b647d9"/>
    <p:sldLayoutId xmlns:r="http://schemas.openxmlformats.org/officeDocument/2006/relationships" id="2147483651" r:id="R336c784d9a014e9b"/>
    <p:sldLayoutId xmlns:r="http://schemas.openxmlformats.org/officeDocument/2006/relationships" id="2147483652" r:id="R91bc2213e23642f5"/>
    <p:sldLayoutId xmlns:r="http://schemas.openxmlformats.org/officeDocument/2006/relationships" id="2147483653" r:id="Rf6915fadb0854ca1"/>
    <p:sldLayoutId xmlns:r="http://schemas.openxmlformats.org/officeDocument/2006/relationships" id="2147483654" r:id="R541eef75dbc647f6"/>
    <p:sldLayoutId xmlns:r="http://schemas.openxmlformats.org/officeDocument/2006/relationships" id="2147483655" r:id="Rf1f41b9a357f42d6"/>
    <p:sldLayoutId xmlns:r="http://schemas.openxmlformats.org/officeDocument/2006/relationships" id="2147483656" r:id="R151080b0804c474b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8c0c4b5344e11" /><Relationship Type="http://schemas.openxmlformats.org/officeDocument/2006/relationships/notesSlide" Target="/ppt/notesSlides/notesSlide1.xml" Id="Rd95d1074e51e4d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3b4ec9ccb6493b" /><Relationship Type="http://schemas.openxmlformats.org/officeDocument/2006/relationships/notesSlide" Target="/ppt/notesSlides/notesSlide2.xml" Id="R36329c9667634e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dbf92fe7814168" /><Relationship Type="http://schemas.openxmlformats.org/officeDocument/2006/relationships/notesSlide" Target="/ppt/notesSlides/notesSlide3.xml" Id="Rc573d0bbad4446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094c7276824f37" /><Relationship Type="http://schemas.openxmlformats.org/officeDocument/2006/relationships/notesSlide" Target="/ppt/notesSlides/notesSlide4.xml" Id="R81154bca48bc44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0b0c799a1949bb" /><Relationship Type="http://schemas.openxmlformats.org/officeDocument/2006/relationships/notesSlide" Target="/ppt/notesSlides/notesSlide5.xml" Id="Re6c871a1494a44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5dc60712a2422e" /><Relationship Type="http://schemas.openxmlformats.org/officeDocument/2006/relationships/notesSlide" Target="/ppt/notesSlides/notesSlide6.xml" Id="R9fa78f4b86c947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28ff60a1464b15" /><Relationship Type="http://schemas.openxmlformats.org/officeDocument/2006/relationships/image" Target="/ppt/media/image.png" Id="Rbb5032d4d3a243c5" /><Relationship Type="http://schemas.openxmlformats.org/officeDocument/2006/relationships/notesSlide" Target="/ppt/notesSlides/notesSlide7.xml" Id="R98a75afabc6149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f4fd2add104292" /><Relationship Type="http://schemas.openxmlformats.org/officeDocument/2006/relationships/image" Target="/ppt/media/image2.png" Id="Rf2e398439cb549dd" /><Relationship Type="http://schemas.openxmlformats.org/officeDocument/2006/relationships/notesSlide" Target="/ppt/notesSlides/notesSlide8.xml" Id="Rdfde1b66c7a84d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5e815f06ef403d" /><Relationship Type="http://schemas.openxmlformats.org/officeDocument/2006/relationships/chart" Target="/ppt/slides/charts/chart1.xml" Id="Rf6b26ac5c4984211" /><Relationship Type="http://schemas.openxmlformats.org/officeDocument/2006/relationships/notesSlide" Target="/ppt/notesSlides/notesSlide9.xml" Id="R8bb3dd35936e4a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33e247626c4759" /><Relationship Type="http://schemas.openxmlformats.org/officeDocument/2006/relationships/notesSlide" Target="/ppt/notesSlides/notesSlide10.xml" Id="Rd3616c5585914e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aa7f2b36fb4b2d" /><Relationship Type="http://schemas.openxmlformats.org/officeDocument/2006/relationships/notesSlide" Target="/ppt/notesSlides/notesSlide11.xml" Id="R9bed09488c7a4d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10014759f04163" /><Relationship Type="http://schemas.openxmlformats.org/officeDocument/2006/relationships/notesSlide" Target="/ppt/notesSlides/notesSlide12.xml" Id="R4eed5074b38f47c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ca133efa6f4a4b" /><Relationship Type="http://schemas.openxmlformats.org/officeDocument/2006/relationships/notesSlide" Target="/ppt/notesSlides/notesSlide13.xml" Id="Rb219ced67312420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539480e24c4def" /><Relationship Type="http://schemas.openxmlformats.org/officeDocument/2006/relationships/notesSlide" Target="/ppt/notesSlides/notesSlide14.xml" Id="R31a582e7cab7487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6746af78af4cd6" /><Relationship Type="http://schemas.openxmlformats.org/officeDocument/2006/relationships/notesSlide" Target="/ppt/notesSlides/notesSlide15.xml" Id="Rda115034968b47e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79ed70ac354d9e" /><Relationship Type="http://schemas.openxmlformats.org/officeDocument/2006/relationships/notesSlide" Target="/ppt/notesSlides/notesSlide16.xml" Id="R3c8c9d708f354c2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1a83c4d1264bd2" /><Relationship Type="http://schemas.openxmlformats.org/officeDocument/2006/relationships/notesSlide" Target="/ppt/notesSlides/notesSlide17.xml" Id="R7d26fabd4dfc42e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efc9d406264ea7" /><Relationship Type="http://schemas.openxmlformats.org/officeDocument/2006/relationships/notesSlide" Target="/ppt/notesSlides/notesSlide18.xml" Id="R1e803d18c1d8415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007b3ca4834a33" /><Relationship Type="http://schemas.openxmlformats.org/officeDocument/2006/relationships/notesSlide" Target="/ppt/notesSlides/notesSlide19.xml" Id="R9f30f9f1d217495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79f87adbd14a3e" /><Relationship Type="http://schemas.openxmlformats.org/officeDocument/2006/relationships/notesSlide" Target="/ppt/notesSlides/notesSlide20.xml" Id="R924a8f3eca6248b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16 个场景的终止状态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案例数</c:v>
          </c:tx>
          <c:spPr>
            <a:solidFill xmlns:a="http://schemas.openxmlformats.org/drawingml/2006/main">
              <a:srgbClr val="3D8DFF"/>
            </a:solidFill>
          </c:spPr>
          <c:cat>
            <c:strRef>
              <c:f>'Chart Data'!$A$2:$A$5</c:f>
              <c:strCache>
                <c:ptCount val="4"/>
                <c:pt idx="0">
                  <c:v>成功</c:v>
                </c:pt>
                <c:pt idx="1">
                  <c:v>超时</c:v>
                </c:pt>
                <c:pt idx="2">
                  <c:v>碰撞</c:v>
                </c:pt>
                <c:pt idx="3">
                  <c:v>越界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7</c:v>
                </c:pt>
                <c:pt idx="1">
                  <c:v>2</c:v>
                </c:pt>
                <c:pt idx="2">
                  <c:v>6</c:v>
                </c:pt>
                <c:pt idx="3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8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UUV 仿真平台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6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项目结构与进展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0525" y="4714875"/>
            <a:ext cx="10001250" cy="13335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规划、轨迹生成、闭环控制与实验评价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NTU MSc Computer Control and Automation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ISM-DISS-05863    2026 年 9 月 16 日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详细汇报</a:t>
            </a:r>
          </a:p>
        </p:txBody>
      </p:sp>
    </p:spTree>
    <p:extLst>
      <p:ext uri="{BB962C8B-B14F-4D97-AF65-F5344CB8AC3E}">
        <p14:creationId xmlns:p14="http://schemas.microsoft.com/office/powerpoint/2010/main" val="70000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研究目标与当前边界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几何上无碰撞的路径，能否由欠驱动 UUV 安全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执行并稳定到达终点？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建立统一平台，分开评价规划质量、跟踪表现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与完整任务结果。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当前研究范围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垂直 x–z 平面，纵荡、升沉、俯仰 3 自由度。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静态障碍、无流与恒定海流，A* 与级联 PID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基线。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物理参数为合成测试配置，尚无真实艇验证。</a:t>
            </a:r>
          </a:p>
        </p:txBody>
      </p:sp>
    </p:spTree>
    <p:extLst>
      <p:ext uri="{BB962C8B-B14F-4D97-AF65-F5344CB8AC3E}">
        <p14:creationId xmlns:p14="http://schemas.microsoft.com/office/powerpoint/2010/main" val="70000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项目结构与模块责任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71575"/>
            <a:ext cx="114014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研究算法保持独立，ROS 2 与 Gazebo 作为后续外部适配层</a:t>
            </a:r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390525" y="2114550"/>
          <a:ext xmlns:a="http://schemas.openxmlformats.org/drawingml/2006/main" cx="11401425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286250"/>
                <a:gridCol w="4733925"/>
              </a:tblGrid>
              <a:tr h="49172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主要职责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接口或产物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不可变数据与坐标、向量约定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VehicleState / Path / Trajectory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Environment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边界、障碍、净空与海流查询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WorldModel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Planner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A* 搜索与完整路径验证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PlanningResult / Path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Trajectory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安全捷径、重采样与时间参数化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带时间的参考状态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Controller / Physics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跟踪参考 / 推进非线性动力学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ControlInput / 新状态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Navigation / Simulation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任务调度、安全检查、终止与配置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任务结果、历史与指标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Visualization / Validation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绘图、验收与证据归档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图、JSON、日志、哈希清单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0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闭环运行流程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01  几何规划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任务与环境交给 A*，生成无时间戳的 Path。每条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边进行连续碰撞验证。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02  参考轨迹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安全简化与重采样后分配时间。Simulation 按当前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时刻采样参考状态。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03  控制输入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Controller 比较当前状态与参考，输出有界纵向力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和俯仰力矩。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04  状态反馈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Physics 推进状态，再反馈给控制器。Navigation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检查实际运动段、到达与超时。</a:t>
            </a:r>
          </a:p>
        </p:txBody>
      </p:sp>
    </p:spTree>
    <p:extLst>
      <p:ext uri="{BB962C8B-B14F-4D97-AF65-F5344CB8AC3E}">
        <p14:creationId xmlns:p14="http://schemas.microsoft.com/office/powerpoint/2010/main" val="7000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动力学与控制基线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合成 3-DOF 动力学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保留纵荡 u、升沉 w、俯仰 q，以及 x、z、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pitch。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世界坐标采用 ENU，艇体速度采用 SNAME 约定。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固定步长积分，默认 RK4。海流通过相对速度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进入模型。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欠驱动级联 PID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位置外环生成纵向速度，深度误差修正俯仰目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直接输入为纵向力与俯仰力矩，升沉力恒为零。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输出仍是广义力，尚未建立推进器、舵面与分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配模型。</a:t>
            </a:r>
          </a:p>
        </p:txBody>
      </p:sp>
    </p:spTree>
    <p:extLst>
      <p:ext uri="{BB962C8B-B14F-4D97-AF65-F5344CB8AC3E}">
        <p14:creationId xmlns:p14="http://schemas.microsoft.com/office/powerpoint/2010/main" val="70000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当前进度与证据层级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71575"/>
            <a:ext cx="114014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以截至 9 月 15 日的仓库证据更新 9 月 10 日的 Word 计划</a:t>
            </a:r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390525" y="2114550"/>
          <a:ext xmlns:a="http://schemas.openxmlformats.org/drawingml/2006/main" cx="11401425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048000"/>
                <a:gridCol w="5495925"/>
              </a:tblGrid>
              <a:tr h="49172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工作项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当前状态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证据与边界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 / Environment / Physics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已完成既定范围验证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3-DOF、静态世界、合成参数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A* v0.6b / M1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已验收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绕障、窄通道、不可达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Trajectory v0.7 / M2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基线已验收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个可达场景，不保证动态可行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Navigation v0.8 / M3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最小闭环已验证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 16 案例有 9 个任务失败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Control v0.5.1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可选控制功能已验证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622 项测试通过，默认前馈仍关闭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终端捕获候选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已有对照实验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低速绕障成功，待全场景回归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Benchmark / ROS 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尚未形成完整发布证据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00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0525" y="342900"/>
            <a:ext cx="11401425" cy="10477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A* 几何规划已通过验收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4572000" cy="385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有界栅格搜索与 4/8 邻接。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考虑艇体半径与安全余量，拒绝对角切角。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图中证据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绕障路径长 10.071 m，扩展 145 个节点。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该结果证明几何路径有效，执行安全仍需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闭环实验。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032d4d3a243c5"/>
          <a:stretch xmlns:a="http://schemas.openxmlformats.org/drawingml/2006/main"/>
        </p:blipFill>
        <p:spPr>
          <a:xfrm xmlns:a="http://schemas.openxmlformats.org/drawingml/2006/main">
            <a:off x="5499735" y="1181100"/>
            <a:ext cx="5897880" cy="4914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0525" y="342900"/>
            <a:ext cx="11401425" cy="8572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轨迹基线已有时间参考</a:t>
            </a:r>
          </a:p>
        </p:txBody>
      </p:sp>
      <p:sp>
        <p:nvSpPr>
          <p:cNvPr id="534" name="caption">
            <a:extLst xmlns:a="http://schemas.openxmlformats.org/drawingml/2006/main">
              <a:ext uri="{FF2B5EF4-FFF2-40B4-BE49-F238E27FC236}">
                <a16:creationId xmlns:a16="http://schemas.microsoft.com/office/drawing/2014/main" id="{D3645525-EBDA-44E0-B958-B4AA4CE9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1401425" cy="63817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安全捷径与距离重采样后，生成恒速时间参考。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转角处俯仰参考仍不连续，尚无加速度或有限转弯率保证。</a:t>
            </a:r>
          </a:p>
        </p:txBody>
      </p:sp>
      <p:pic>
        <p:nvPicPr>
          <p:cNvPr id="5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e398439cb549dd"/>
          <a:stretch xmlns:a="http://schemas.openxmlformats.org/drawingml/2006/main"/>
        </p:blipFill>
        <p:spPr>
          <a:xfrm xmlns:a="http://schemas.openxmlformats.org/drawingml/2006/main">
            <a:off x="2544762" y="1200150"/>
            <a:ext cx="7064375" cy="4238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Placeholder 9">
            <a:extLst xmlns:a="http://schemas.openxmlformats.org/drawingml/2006/main">
              <a:ext uri="{FF2B5EF4-FFF2-40B4-BE49-F238E27FC236}">
                <a16:creationId xmlns:a16="http://schemas.microsoft.com/office/drawing/2014/main" id="{86E641B5-9209-3FE0-FF9F-6D9DEC997FE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34472" y="6037263"/>
            <a:ext cx="35687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4B3D1A-6BB0-A1C9-2A5D-E2CB5C0C28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原始 M3 闭环结果</a:t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3EBE22F-0E57-50F2-2730-87B6AA22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76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21A36F2-8209-5AA9-0D95-01C3D58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场景总数</a:t>
            </a: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26AD9AD-13F4-E1DA-D400-C93C8877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381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0012E4-4A17-58AB-7C13-D2FE52FD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99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成功案例</a:t>
            </a:r>
          </a:p>
        </p:txBody>
      </p:sp>
      <p:sp>
        <p:nvSpPr>
          <p:cNvPr id="6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BE261F0F-2359-53ED-9F86-805EC1A3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47825"/>
            <a:ext cx="53340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成功与失败均有记录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水平、静态窄通道及轴向恒流已有通过案例。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对角终端停留、绕障和垂向流仍暴露局限。</a:t>
            </a:r>
          </a:p>
        </p:txBody>
      </p:sp>
      <p:sp>
        <p:nvSpPr>
          <p:cNvPr id="43" name="foot">
            <a:extLst xmlns:a="http://schemas.openxmlformats.org/drawingml/2006/main">
              <a:ext uri="{FF2B5EF4-FFF2-40B4-BE49-F238E27FC236}">
                <a16:creationId xmlns:a16="http://schemas.microsoft.com/office/drawing/2014/main" id="{2C2FD422-BF5B-4DF7-A4DF-AB58E5EF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62650"/>
            <a:ext cx="10953750" cy="2667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历史基线：7 SUCCESS、2 TIMEOUT、6 COLLISION、1 OUT_OF_BOUNDS</a:t>
            </a:r>
          </a:p>
        </p:txBody>
      </p:sp>
      <p:graphicFrame>
        <p:nvGraphicFramePr>
          <p:cNvPr id="54" name="Chart"/>
          <p:cNvGraphicFramePr/>
          <p:nvPr/>
        </p:nvGraphicFramePr>
        <p:xfrm>
          <a:off xmlns:a="http://schemas.openxmlformats.org/drawingml/2006/main" x="390525" y="1666875"/>
          <a:ext xmlns:a="http://schemas.openxmlformats.org/drawingml/2006/main" cx="5429250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b26ac5c4984211"/>
          </a:graphicData>
        </a:graphic>
      </p:graphicFrame>
    </p:spTree>
    <p:extLst>
      <p:ext uri="{BB962C8B-B14F-4D97-AF65-F5344CB8AC3E}">
        <p14:creationId xmlns:p14="http://schemas.microsoft.com/office/powerpoint/2010/main" val="7000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v0.5.1 恢复力前馈与限幅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控制改进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按实际俯仰角补偿合成模型的恢复力矩。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PID、前馈与积分先合成，再使用统一有效上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限裁剪。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控制器与 Navigation 共享本周期限值，抗饱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和使用相同约束。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验收范围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完整测试记录为 622 passed，无跳过。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17 个真实模块案例各运行两次，记录一致。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旧配置默认系数为 0。系数 6 N·m 的候选配置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需显式启用。</a:t>
            </a:r>
          </a:p>
        </p:txBody>
      </p:sp>
    </p:spTree>
    <p:extLst>
      <p:ext uri="{BB962C8B-B14F-4D97-AF65-F5344CB8AC3E}">
        <p14:creationId xmlns:p14="http://schemas.microsoft.com/office/powerpoint/2010/main" val="70000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前馈改善了对角任务表现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71575"/>
            <a:ext cx="114014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位置 / 速度 / 俯仰角速度 / 保持时间：0.25 m / 0.10 m/s / 0.10 rad/s / 0.5 s</a:t>
            </a:r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390525" y="2114550"/>
          <a:ext xmlns:a="http://schemas.openxmlformats.org/drawingml/2006/main" cx="11401425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1428750"/>
                <a:gridCol w="5305425"/>
              </a:tblGrid>
              <a:tr h="6556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终端位置误差 / 说明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前馈关闭，升 / 降，0.5 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0.2621 m，保留原始基线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前馈候选，升 / 降，0.5 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0.2142 m，23.85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系数 4.8 / 7.2，升 / 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仅为 ±20% 系数偏差试验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俯仰力矩上限 0.5 N·m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1.2147 m，控制权限不足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前馈候选，绕障 0.2 / 0.3 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0.2872 / 0.4150 m，无碰撞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01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绕障终端残差的原因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观测到的现象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前馈候选最终几乎静止，但仍离目标 0.287 /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0.415 m。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沿实际艇体朝向的误差投影接近零，因此纵向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速度目标也接近零。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末段法向残差仍大，当前欠驱动终端保持无法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直接消除它。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研究含义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轨迹末段与转弯已带来误差，残差并非完全由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刹车产生。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实验显示模型具备主动制动能力。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后续需要有约束的终端位置捕获，并独立评价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末段减速。</a:t>
            </a:r>
          </a:p>
        </p:txBody>
      </p:sp>
    </p:spTree>
    <p:extLst>
      <p:ext uri="{BB962C8B-B14F-4D97-AF65-F5344CB8AC3E}">
        <p14:creationId xmlns:p14="http://schemas.microsoft.com/office/powerpoint/2010/main" val="70001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最新终端捕获候选结果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71575"/>
            <a:ext cx="114014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候选策略采用先制动、受限转向、低速纠偏；默认关闭</a:t>
            </a:r>
          </a:p>
        </p:txBody>
      </p:sp>
      <p:sp>
        <p:nvSpPr>
          <p:cNvPr id="534" name="caveat">
            <a:extLst xmlns:a="http://schemas.openxmlformats.org/drawingml/2006/main">
              <a:ext uri="{FF2B5EF4-FFF2-40B4-BE49-F238E27FC236}">
                <a16:creationId xmlns:a16="http://schemas.microsoft.com/office/drawing/2014/main" id="{0C998905-56BE-4F38-AA14-8AF706C1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72150"/>
            <a:ext cx="10953750" cy="42862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两条绕障轨迹的额外障碍余量仅约 27 mm / 8 mm，尚不能称为稳健安全配置</a:t>
            </a:r>
          </a:p>
        </p:txBody>
      </p:sp>
      <p:graphicFrame>
        <p:nvGraphicFramePr>
          <p:cNvPr id="541" name=""/>
          <p:cNvGraphicFramePr/>
          <p:nvPr/>
        </p:nvGraphicFramePr>
        <p:xfrm>
          <a:off xmlns:a="http://schemas.openxmlformats.org/drawingml/2006/main" x="390525" y="2114550"/>
          <a:ext xmlns:a="http://schemas.openxmlformats.org/drawingml/2006/main" cx="11401425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429000"/>
                <a:gridCol w="4257675"/>
              </a:tblGrid>
              <a:tr h="5810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固定前馈配置下的案例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原终端保持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启用终端捕获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绕障 0.2 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超时，误差 0.287 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成功，0.229 m，66.50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绕障 0.3 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超时，误差 0.415 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成功，0.233 m，56.10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孤立横向偏差 / 混合偏差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个案例超时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个案例成功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原水平、上升、下降任务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个案例成功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个案例仍成功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证据边界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 组启用 / 关闭对照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未完成原始 M3 全矩阵复验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01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下一阶段的完成路径</a:t>
            </a:r>
          </a:p>
        </p:txBody>
      </p:sp>
      <p:cxnSp>
        <p:nvCxnSpPr>
          <p:cNvPr id="23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3375" y="3371850"/>
            <a:ext cx="1145857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3562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当前优先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47975"/>
            <a:ext cx="3562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随后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847975"/>
            <a:ext cx="3562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基线稳定后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19525"/>
            <a:ext cx="35623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转弯与执行余量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分别研究末段减速、转弯参考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与规划净空，避免同时改动失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去归因。</a:t>
            </a:r>
          </a:p>
        </p:txBody>
      </p:sp>
      <p:sp>
        <p:nvSpPr>
          <p:cNvPr id="15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5623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终端策略验收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补充边界与失败测试，固定候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选参数，复验原始 16 场景。</a:t>
            </a:r>
          </a:p>
        </p:txBody>
      </p:sp>
      <p:sp>
        <p:nvSpPr>
          <p:cNvPr id="1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819525"/>
            <a:ext cx="35623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统一 Benchmark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冻结地图、物理、控制与终止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条件，形成可复现对比结果。</a:t>
            </a:r>
          </a:p>
        </p:txBody>
      </p:sp>
    </p:spTree>
    <p:extLst>
      <p:ext uri="{BB962C8B-B14F-4D97-AF65-F5344CB8AC3E}">
        <p14:creationId xmlns:p14="http://schemas.microsoft.com/office/powerpoint/2010/main" val="70001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评价体系与公平比较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规划层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路径有效率、长度、连续净空、转角指标、规划时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间与扩展节点。固定地图和请求。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控制层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跟踪 RMSE、最大误差、终端误差、输入饱和与计算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时间。固定参考轨迹。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完整任务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成功、碰撞、越界、完成时间、实际轨迹最小余量。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固定物理模型和终止阈值。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可复现证据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每次运行保存配置、结果、完整历史、图和哈希清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单。输入代价仅作为代理指标。</a:t>
            </a:r>
          </a:p>
        </p:txBody>
      </p:sp>
    </p:spTree>
    <p:extLst>
      <p:ext uri="{BB962C8B-B14F-4D97-AF65-F5344CB8AC3E}">
        <p14:creationId xmlns:p14="http://schemas.microsoft.com/office/powerpoint/2010/main" val="70001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计划中的算法改进与消融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71575"/>
            <a:ext cx="114014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这些属于后续研究设计；每次只引入一个因素，并保留失败与代价权衡</a:t>
            </a:r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390525" y="2114550"/>
          <a:ext xmlns:a="http://schemas.openxmlformats.org/drawingml/2006/main" cx="11401425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286250"/>
                <a:gridCol w="4257675"/>
              </a:tblGrid>
              <a:tr h="6556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对照项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希望解决的问题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比较时保持一致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Standard A* 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提供统一起点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地图、网格、碰撞验证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增加规划余量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执行偏差侵蚀几何净空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实际运动安全阈值不变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增加转弯代价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路径转角对跟踪不友好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控制器与速度策略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加入速度策略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转弯与末段误差较大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路径与控制器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海流 / 运动感知代价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规划结果与可执行性脱节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场景、物理与终止条件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01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完成计划与内部目标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71575"/>
            <a:ext cx="114014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11 月 30 日是内部规划目标，非已确认的学校截止日期；论文随实验持续更新</a:t>
            </a:r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390525" y="2114550"/>
          <a:ext xmlns:a="http://schemas.openxmlformats.org/drawingml/2006/main" cx="11401425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810000"/>
                <a:gridCol w="4162425"/>
              </a:tblGrid>
              <a:tr h="5619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建议窗口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主要工作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阶段退出证据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 月下旬至 10 月上旬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终端捕获、转弯与执行安全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候选验收与全场景回归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月中下旬至 11 月 1 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 Benchmark 并批量实验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配置矩阵、原始指标和核心图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月 2–8 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规划改进与消融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公平对照与导师讨论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月 9–15 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ROS 2 薄适配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可启动并复现的 ROS 场景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月 16–22 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缓冲或一个条件扩展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核心证据与写作优先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月 23–30 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功能冻结、论文与发布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干净环境复现、最终图表和说明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01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范围优先级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0525" y="2428875"/>
            <a:ext cx="3571875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必须完成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可靠的 3-DOF 静态闭环。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无流 / 恒流实验。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PID 基线、Benchmark、论文与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可复现发布。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0075" y="2428875"/>
            <a:ext cx="3571875" cy="3429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条件扩展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MPC、6-DOF、Gazebo。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RRT* 或 RL 需导师选择。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动态障碍与复杂海流按时间和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证据决定。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05300" y="2428875"/>
            <a:ext cx="3571875" cy="3429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优先推进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海流或运动感知规划。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针对失败模式的消融。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ROS 2 适配与完整运行案例。</a:t>
            </a:r>
          </a:p>
        </p:txBody>
      </p:sp>
    </p:spTree>
    <p:extLst>
      <p:ext uri="{BB962C8B-B14F-4D97-AF65-F5344CB8AC3E}">
        <p14:creationId xmlns:p14="http://schemas.microsoft.com/office/powerpoint/2010/main" val="70001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主要风险与应对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终端成功但净空过小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把障碍余量列为独立验收项，增加初始状态与参数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扰动测试。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多项改动难以归因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固定控制与场景，分别比较终端、速度和规划策略。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外部集成拖延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保持核心 Python 独立运行。ROS 2 使用薄适配，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Gazebo 可移至后续。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论文证据积压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每个里程碑同步更新方法、结果与局限。延期时先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压缩条件扩展。</a:t>
            </a:r>
          </a:p>
        </p:txBody>
      </p:sp>
    </p:spTree>
    <p:extLst>
      <p:ext uri="{BB962C8B-B14F-4D97-AF65-F5344CB8AC3E}">
        <p14:creationId xmlns:p14="http://schemas.microsoft.com/office/powerpoint/2010/main" val="70001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最终交付与讨论重点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预期交付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模块化仿真代码与版本化配置。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可复现 Benchmark、成功和失败案例及论文图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表。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运行说明、局限说明与 ROS 2 演示案例。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需要讨论的选择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确认当前静态 3-DOF 范围与验收指标。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明确规划改进的首要研究问题。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核心证据稳定后，再决定 RRT*、RL 或其他单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一扩展。</a:t>
            </a:r>
          </a:p>
        </p:txBody>
      </p:sp>
    </p:spTree>
    <p:extLst>
      <p:ext uri="{BB962C8B-B14F-4D97-AF65-F5344CB8AC3E}">
        <p14:creationId xmlns:p14="http://schemas.microsoft.com/office/powerpoint/2010/main" val="700019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2026-09-16T08:40:31.0480000Z</dcterms:created>
  <dcterms:modified xsi:type="dcterms:W3CDTF">2026-09-16T08:40:31.0480000Z</dcterms:modified>
</coreProperties>
</file>