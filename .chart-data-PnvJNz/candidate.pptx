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9ec3002b0e4551" /><Relationship Type="http://schemas.openxmlformats.org/officeDocument/2006/relationships/extended-properties" Target="/docProps/app.xml" Id="R433f5667881145cf" /><Relationship Type="http://schemas.openxmlformats.org/officeDocument/2006/relationships/officeDocument" Target="/ppt/presentation.xml" Id="R25d45f97561344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3dd85611d14ace"/>
  </p:sldMasterIdLst>
  <p:notesMasterIdLst>
    <p:notesMasterId xmlns:r="http://schemas.openxmlformats.org/officeDocument/2006/relationships" r:id="R92fd391bd9e0452b"/>
  </p:notesMasterIdLst>
  <p:sldIdLst>
    <p:sldId xmlns:r="http://schemas.openxmlformats.org/officeDocument/2006/relationships" id="256" r:id="Rd11744a662e74d3b"/>
    <p:sldId xmlns:r="http://schemas.openxmlformats.org/officeDocument/2006/relationships" id="257" r:id="R4e8a19c2a2a54c87"/>
    <p:sldId xmlns:r="http://schemas.openxmlformats.org/officeDocument/2006/relationships" id="258" r:id="Rc681a0f8e6fe47c6"/>
    <p:sldId xmlns:r="http://schemas.openxmlformats.org/officeDocument/2006/relationships" id="259" r:id="Rf323eb73aafe47fb"/>
    <p:sldId xmlns:r="http://schemas.openxmlformats.org/officeDocument/2006/relationships" id="260" r:id="R799f73271eda4edb"/>
    <p:sldId xmlns:r="http://schemas.openxmlformats.org/officeDocument/2006/relationships" id="261" r:id="R927f127adb7845cb"/>
    <p:sldId xmlns:r="http://schemas.openxmlformats.org/officeDocument/2006/relationships" id="262" r:id="R3cbed33fc1344098"/>
    <p:sldId xmlns:r="http://schemas.openxmlformats.org/officeDocument/2006/relationships" id="263" r:id="R07ef3c1a7ab74c93"/>
    <p:sldId xmlns:r="http://schemas.openxmlformats.org/officeDocument/2006/relationships" id="264" r:id="R718e927dd0d942d0"/>
    <p:sldId xmlns:r="http://schemas.openxmlformats.org/officeDocument/2006/relationships" id="265" r:id="Rcc6805ce5cb44441"/>
    <p:sldId xmlns:r="http://schemas.openxmlformats.org/officeDocument/2006/relationships" id="266" r:id="Rea5d347825ab43bd"/>
    <p:sldId xmlns:r="http://schemas.openxmlformats.org/officeDocument/2006/relationships" id="267" r:id="Ra1d43f7c64744e76"/>
    <p:sldId xmlns:r="http://schemas.openxmlformats.org/officeDocument/2006/relationships" id="268" r:id="Rd9dca2abeed64da8"/>
    <p:sldId xmlns:r="http://schemas.openxmlformats.org/officeDocument/2006/relationships" id="269" r:id="R9462660a4f184e7d"/>
    <p:sldId xmlns:r="http://schemas.openxmlformats.org/officeDocument/2006/relationships" id="270" r:id="R7769efe058ea4d55"/>
    <p:sldId xmlns:r="http://schemas.openxmlformats.org/officeDocument/2006/relationships" id="271" r:id="Rcdee19f1d13e4936"/>
    <p:sldId xmlns:r="http://schemas.openxmlformats.org/officeDocument/2006/relationships" id="272" r:id="R882cd8b7e79f4911"/>
    <p:sldId xmlns:r="http://schemas.openxmlformats.org/officeDocument/2006/relationships" id="273" r:id="Reb82cf27067b494d"/>
    <p:sldId xmlns:r="http://schemas.openxmlformats.org/officeDocument/2006/relationships" id="274" r:id="Rb545875e17b740c7"/>
    <p:sldId xmlns:r="http://schemas.openxmlformats.org/officeDocument/2006/relationships" id="275" r:id="R8b7670c1332c47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d03f3c62c4177" /><Relationship Type="http://schemas.openxmlformats.org/officeDocument/2006/relationships/slideMaster" Target="/ppt/slideMasters/slideMaster1.xml" Id="R3a3dd85611d14ace" /><Relationship Type="http://schemas.openxmlformats.org/officeDocument/2006/relationships/notesMaster" Target="/ppt/notesMasters/notesMaster1.xml" Id="R92fd391bd9e0452b" /><Relationship Type="http://schemas.openxmlformats.org/officeDocument/2006/relationships/presProps" Target="/ppt/presProps.xml" Id="R89d24be293ff4269" /><Relationship Type="http://schemas.openxmlformats.org/officeDocument/2006/relationships/viewProps" Target="/ppt/viewProps.xml" Id="R1eafc8af95164bee" /><Relationship Type="http://schemas.openxmlformats.org/officeDocument/2006/relationships/tableStyles" Target="/ppt/tableStyles.xml" Id="R4d2f223a92074381" /><Relationship Type="http://schemas.openxmlformats.org/officeDocument/2006/relationships/slide" Target="/ppt/slides/slide1.xml" Id="Rd11744a662e74d3b" /><Relationship Type="http://schemas.openxmlformats.org/officeDocument/2006/relationships/slide" Target="/ppt/slides/slide2.xml" Id="R4e8a19c2a2a54c87" /><Relationship Type="http://schemas.openxmlformats.org/officeDocument/2006/relationships/slide" Target="/ppt/slides/slide3.xml" Id="Rc681a0f8e6fe47c6" /><Relationship Type="http://schemas.openxmlformats.org/officeDocument/2006/relationships/slide" Target="/ppt/slides/slide4.xml" Id="Rf323eb73aafe47fb" /><Relationship Type="http://schemas.openxmlformats.org/officeDocument/2006/relationships/slide" Target="/ppt/slides/slide5.xml" Id="R799f73271eda4edb" /><Relationship Type="http://schemas.openxmlformats.org/officeDocument/2006/relationships/slide" Target="/ppt/slides/slide6.xml" Id="R927f127adb7845cb" /><Relationship Type="http://schemas.openxmlformats.org/officeDocument/2006/relationships/slide" Target="/ppt/slides/slide7.xml" Id="R3cbed33fc1344098" /><Relationship Type="http://schemas.openxmlformats.org/officeDocument/2006/relationships/slide" Target="/ppt/slides/slide8.xml" Id="R07ef3c1a7ab74c93" /><Relationship Type="http://schemas.openxmlformats.org/officeDocument/2006/relationships/slide" Target="/ppt/slides/slide9.xml" Id="R718e927dd0d942d0" /><Relationship Type="http://schemas.openxmlformats.org/officeDocument/2006/relationships/slide" Target="/ppt/slides/slide10.xml" Id="Rcc6805ce5cb44441" /><Relationship Type="http://schemas.openxmlformats.org/officeDocument/2006/relationships/slide" Target="/ppt/slides/slide11.xml" Id="Rea5d347825ab43bd" /><Relationship Type="http://schemas.openxmlformats.org/officeDocument/2006/relationships/slide" Target="/ppt/slides/slide12.xml" Id="Ra1d43f7c64744e76" /><Relationship Type="http://schemas.openxmlformats.org/officeDocument/2006/relationships/slide" Target="/ppt/slides/slide13.xml" Id="Rd9dca2abeed64da8" /><Relationship Type="http://schemas.openxmlformats.org/officeDocument/2006/relationships/slide" Target="/ppt/slides/slide14.xml" Id="R9462660a4f184e7d" /><Relationship Type="http://schemas.openxmlformats.org/officeDocument/2006/relationships/slide" Target="/ppt/slides/slide15.xml" Id="R7769efe058ea4d55" /><Relationship Type="http://schemas.openxmlformats.org/officeDocument/2006/relationships/slide" Target="/ppt/slides/slide16.xml" Id="Rcdee19f1d13e4936" /><Relationship Type="http://schemas.openxmlformats.org/officeDocument/2006/relationships/slide" Target="/ppt/slides/slide17.xml" Id="R882cd8b7e79f4911" /><Relationship Type="http://schemas.openxmlformats.org/officeDocument/2006/relationships/slide" Target="/ppt/slides/slide18.xml" Id="Reb82cf27067b494d" /><Relationship Type="http://schemas.openxmlformats.org/officeDocument/2006/relationships/slide" Target="/ppt/slides/slide19.xml" Id="Rb545875e17b740c7" /><Relationship Type="http://schemas.openxmlformats.org/officeDocument/2006/relationships/slide" Target="/ppt/slides/slide20.xml" Id="R8b7670c1332c47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1677b35fe7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2acc01cd4a4640" /><Relationship Type="http://schemas.openxmlformats.org/officeDocument/2006/relationships/notesMaster" Target="/ppt/notesMasters/notesMaster1.xml" Id="R8ef4ac4a27ae47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45a1cdaa314cd9" /><Relationship Type="http://schemas.openxmlformats.org/officeDocument/2006/relationships/notesMaster" Target="/ppt/notesMasters/notesMaster1.xml" Id="Rb8a0b4198adf4f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f37c11e72a4192" /><Relationship Type="http://schemas.openxmlformats.org/officeDocument/2006/relationships/notesMaster" Target="/ppt/notesMasters/notesMaster1.xml" Id="R182544939d6944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50e51a0bb4c49" /><Relationship Type="http://schemas.openxmlformats.org/officeDocument/2006/relationships/notesMaster" Target="/ppt/notesMasters/notesMaster1.xml" Id="R9fcac3247aaf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aa105cc8cb472e" /><Relationship Type="http://schemas.openxmlformats.org/officeDocument/2006/relationships/notesMaster" Target="/ppt/notesMasters/notesMaster1.xml" Id="Rd2165aa2b6094a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48c425b65e4ffa" /><Relationship Type="http://schemas.openxmlformats.org/officeDocument/2006/relationships/notesMaster" Target="/ppt/notesMasters/notesMaster1.xml" Id="Ra509a6f5b01e46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36be0d572c4f5e" /><Relationship Type="http://schemas.openxmlformats.org/officeDocument/2006/relationships/notesMaster" Target="/ppt/notesMasters/notesMaster1.xml" Id="R993ae5ef3bae42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d8e5e530ce4696" /><Relationship Type="http://schemas.openxmlformats.org/officeDocument/2006/relationships/notesMaster" Target="/ppt/notesMasters/notesMaster1.xml" Id="R5472a7fc44b54d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ceac2444bb4681" /><Relationship Type="http://schemas.openxmlformats.org/officeDocument/2006/relationships/notesMaster" Target="/ppt/notesMasters/notesMaster1.xml" Id="R09824b05ecfd4e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e55953d55041d6" /><Relationship Type="http://schemas.openxmlformats.org/officeDocument/2006/relationships/notesMaster" Target="/ppt/notesMasters/notesMaster1.xml" Id="R9663188096da40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055f028c414d6b" /><Relationship Type="http://schemas.openxmlformats.org/officeDocument/2006/relationships/notesMaster" Target="/ppt/notesMasters/notesMaster1.xml" Id="Rfd94e5e82d6e47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201aeb57234f6a" /><Relationship Type="http://schemas.openxmlformats.org/officeDocument/2006/relationships/notesMaster" Target="/ppt/notesMasters/notesMaster1.xml" Id="R869ebb9a7fba44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17eada40444766" /><Relationship Type="http://schemas.openxmlformats.org/officeDocument/2006/relationships/notesMaster" Target="/ppt/notesMasters/notesMaster1.xml" Id="R0738b956670147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167ab11af54ae1" /><Relationship Type="http://schemas.openxmlformats.org/officeDocument/2006/relationships/notesMaster" Target="/ppt/notesMasters/notesMaster1.xml" Id="Re1952278b53244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ff732d25204f3b" /><Relationship Type="http://schemas.openxmlformats.org/officeDocument/2006/relationships/notesMaster" Target="/ppt/notesMasters/notesMaster1.xml" Id="R6a1c210196df4d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cc322cf1cc4e28" /><Relationship Type="http://schemas.openxmlformats.org/officeDocument/2006/relationships/notesMaster" Target="/ppt/notesMasters/notesMaster1.xml" Id="Rfedd2732c5bc47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0465e5760e4e77" /><Relationship Type="http://schemas.openxmlformats.org/officeDocument/2006/relationships/notesMaster" Target="/ppt/notesMasters/notesMaster1.xml" Id="Ra37541f67c5942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e49e7f23c947f4" /><Relationship Type="http://schemas.openxmlformats.org/officeDocument/2006/relationships/notesMaster" Target="/ppt/notesMasters/notesMaster1.xml" Id="R0cfc2d66f8c04f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590571af8a436c" /><Relationship Type="http://schemas.openxmlformats.org/officeDocument/2006/relationships/notesMaster" Target="/ppt/notesMasters/notesMaster1.xml" Id="Rfcf6b17a5ea344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f7dd74fd424c47" /><Relationship Type="http://schemas.openxmlformats.org/officeDocument/2006/relationships/notesMaster" Target="/ppt/notesMasters/notesMaster1.xml" Id="R62339c5f1c3447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讲解重点：UUV 仿真平台，项目结构与进展。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讲解重点：研究目标与当前边界。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讲解重点：项目结构与模块责任。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研究算法保持独立，ROS 2 与 Gazebo 作为后续外部适配层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讲解重点：闭环运行流程。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来源：README.md；docs/navigation_v0.8_validation.md；docs/control_v0.5.1_validation.md；docs/navigation_v0.8_specification.md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讲解重点：动力学与控制基线。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来源：docs/physics_v0.4_specification.md；docs/control_v0.5_specification.md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讲解重点：当前进度与证据层级。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以截至 9 月 15 日的仓库证据更新 9 月 10 日的 Word 计划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来源：README.md；docs/navigation_v0.8_validation.md；docs/control_v0.5.1_validation.md；artifacts/navigation/terminal_capture_v1_20260915/summary.json；navigation/terminal_capture.py；validation/terminal_capture_acceptance.py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讲解重点：A* 几何规划已通过验收。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来源：docs/planner_m1_acceptance.md；artifacts/planner/m1_20260912/detour.png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讲解重点：轨迹基线已有时间参考。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来源：docs/trajectory_v0.7_specification.md；artifacts/trajectory/v07_20260912/detour.png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讲解重点：原始 M3 闭环结果。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来源：docs/navigation_v0.8_validation.md；2026-09-13 M3 审计。图中统计仅属于原始 M3，后续候选实验未替换此统计。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讲解重点：v0.5.1 恢复力前馈与限幅。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讲解重点：前馈改善了对角任务表现。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位置 / 速度 / 俯仰角速度 / 保持时间：0.25 m / 0.10 m/s / 0.10 rad/s / 0.5 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来源：docs/control_v0.5.1_validation.md；artifacts/controller/v051_20260915/pytest.log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讲解重点：绕障终端残差的原因。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来源：docs/terminal_residual_classification_v051.md；本页对应仅启用 v0.5.1 前馈、未启用终端捕获的对照。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讲解重点：最新终端捕获候选结果。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候选策略采用先制动、受限转向、低速纠偏；默认关闭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来源：artifacts/navigation/terminal_capture_v1_20260915/summary.json；navigation/terminal_capture.py；validation/terminal_capture_acceptance.py；现有 622 项测试日志随实验归档，但不能据此声称新增策略拥有充分独立单元测试。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讲解重点：下一阶段的完成路径。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节；D:/UUV_Dissertation_One_Page_Progress_Brief_Bilingual.docx（2026-09-10）；artifacts/navigation/terminal_capture_v1_20260915/summary.json；navigation/terminal_capture.py；validation/terminal_capture_acceptance.py；本页为依据当前进度提出的后续顺序。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讲解重点：评价体系与公平比较。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节；D:/UUV_Dissertation_One_Page_Progress_Brief_Bilingual.docx（2026-09-10）；docs/navigation_v0.8_specification.md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讲解重点：计划中的算法改进与消融。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这些属于后续研究设计；每次只引入一个因素，并保留失败与代价权衡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节；D:/UUV_Dissertation_One_Page_Progress_Brief_Bilingual.docx（2026-09-10）；docs/detour_execution_margin_study.md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讲解重点：完成计划与内部目标。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11 月 30 日是内部规划目标，非已确认的学校截止日期；论文随实验持续更新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节；D:/UUV_Dissertation_One_Page_Progress_Brief_Bilingual.docx（2026-09-10）；根据已完成的 M1/M2 和最小 M3 调整近期工作窗口，非确认后的学校日程。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讲解重点：范围优先级。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讲解重点：主要风险与应对。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来源：D:/UUV_Project_Audit_and_Delivery_Plan_Bilingual_v1.0.docx，第 4–11 节；D:/UUV_Dissertation_One_Page_Progress_Brief_Bilingual.docx（2026-09-10）；artifacts/navigation/terminal_capture_v1_20260915/summary.json；navigation/terminal_capture.py；validation/terminal_capture_acceptance.py</a:t>
            </a:r>
          </a:p>
          <a:p xmlns:a="http://schemas.openxmlformats.org/drawingml/2006/main">
            <a:r>
              <a:t>状态截至 2026-09-15，汇报日期 2026-09-16。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讲解重点：最终交付与讨论重点。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来源：D:/UUV_Project_Audit_and_Delivery_Plan_Bilingual_v1.0.docx，第 4–11 节；D:/UUV_Dissertation_One_Page_Progress_Brief_Bilingual.docx（2026-09-10）；发布内容为计划，尚未全部完成。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状态截至 2026-09-15，汇报日期 2026-09-16。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d7e32df8b40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3cb78707142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4cdbc5a9c47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e564e048445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673b959694c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0f35d860e4bc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c8c9cd6f84f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b9f8729314dc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418292d6a845fe" /><Relationship Type="http://schemas.openxmlformats.org/officeDocument/2006/relationships/slideLayout" Target="/ppt/slideLayouts/slideLayout1.xml" Id="R15d0eaf30d264701" /><Relationship Type="http://schemas.openxmlformats.org/officeDocument/2006/relationships/slideLayout" Target="/ppt/slideLayouts/slideLayout2.xml" Id="R38737dca4ac94599" /><Relationship Type="http://schemas.openxmlformats.org/officeDocument/2006/relationships/slideLayout" Target="/ppt/slideLayouts/slideLayout3.xml" Id="R50cdb71b122f4a08" /><Relationship Type="http://schemas.openxmlformats.org/officeDocument/2006/relationships/slideLayout" Target="/ppt/slideLayouts/slideLayout4.xml" Id="R68ee54a9342c49cf" /><Relationship Type="http://schemas.openxmlformats.org/officeDocument/2006/relationships/slideLayout" Target="/ppt/slideLayouts/slideLayout5.xml" Id="R5f7f2818e7a54d57" /><Relationship Type="http://schemas.openxmlformats.org/officeDocument/2006/relationships/slideLayout" Target="/ppt/slideLayouts/slideLayout6.xml" Id="R1fd7f22605cf49f7" /><Relationship Type="http://schemas.openxmlformats.org/officeDocument/2006/relationships/slideLayout" Target="/ppt/slideLayouts/slideLayout7.xml" Id="Raf5ebcef2f904496" /><Relationship Type="http://schemas.openxmlformats.org/officeDocument/2006/relationships/slideLayout" Target="/ppt/slideLayouts/slideLayout8.xml" Id="R5d5b85fa18654f6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0eaf30d264701"/>
    <p:sldLayoutId xmlns:r="http://schemas.openxmlformats.org/officeDocument/2006/relationships" id="2147483650" r:id="R38737dca4ac94599"/>
    <p:sldLayoutId xmlns:r="http://schemas.openxmlformats.org/officeDocument/2006/relationships" id="2147483651" r:id="R50cdb71b122f4a08"/>
    <p:sldLayoutId xmlns:r="http://schemas.openxmlformats.org/officeDocument/2006/relationships" id="2147483652" r:id="R68ee54a9342c49cf"/>
    <p:sldLayoutId xmlns:r="http://schemas.openxmlformats.org/officeDocument/2006/relationships" id="2147483653" r:id="R5f7f2818e7a54d57"/>
    <p:sldLayoutId xmlns:r="http://schemas.openxmlformats.org/officeDocument/2006/relationships" id="2147483654" r:id="R1fd7f22605cf49f7"/>
    <p:sldLayoutId xmlns:r="http://schemas.openxmlformats.org/officeDocument/2006/relationships" id="2147483655" r:id="Raf5ebcef2f904496"/>
    <p:sldLayoutId xmlns:r="http://schemas.openxmlformats.org/officeDocument/2006/relationships" id="2147483656" r:id="R5d5b85fa18654f6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1b5b9bdb94ddb" /><Relationship Type="http://schemas.openxmlformats.org/officeDocument/2006/relationships/notesSlide" Target="/ppt/notesSlides/notesSlide1.xml" Id="R14aeb38644564b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205678c59411b" /><Relationship Type="http://schemas.openxmlformats.org/officeDocument/2006/relationships/notesSlide" Target="/ppt/notesSlides/notesSlide2.xml" Id="Rbdfa67e24cbd49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03b26bc6c4883" /><Relationship Type="http://schemas.openxmlformats.org/officeDocument/2006/relationships/notesSlide" Target="/ppt/notesSlides/notesSlide3.xml" Id="Rfcc7246b9a9a4f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0298cb00db4cbb" /><Relationship Type="http://schemas.openxmlformats.org/officeDocument/2006/relationships/notesSlide" Target="/ppt/notesSlides/notesSlide4.xml" Id="R3b70216985d04a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06955b8504b36" /><Relationship Type="http://schemas.openxmlformats.org/officeDocument/2006/relationships/notesSlide" Target="/ppt/notesSlides/notesSlide5.xml" Id="Rc84171b440a14c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da47bb67d4f80" /><Relationship Type="http://schemas.openxmlformats.org/officeDocument/2006/relationships/notesSlide" Target="/ppt/notesSlides/notesSlide6.xml" Id="R811bc35558ae4c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64f08308a443f" /><Relationship Type="http://schemas.openxmlformats.org/officeDocument/2006/relationships/image" Target="/ppt/media/image.png" Id="Ra25d20fe4d3140c0" /><Relationship Type="http://schemas.openxmlformats.org/officeDocument/2006/relationships/notesSlide" Target="/ppt/notesSlides/notesSlide7.xml" Id="Rfa244b839e424a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761f41c504eea" /><Relationship Type="http://schemas.openxmlformats.org/officeDocument/2006/relationships/image" Target="/ppt/media/image2.png" Id="R77225272f7d34153" /><Relationship Type="http://schemas.openxmlformats.org/officeDocument/2006/relationships/notesSlide" Target="/ppt/notesSlides/notesSlide8.xml" Id="R1a8e595d2c9643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fee8d3a0e4d2f" /><Relationship Type="http://schemas.openxmlformats.org/officeDocument/2006/relationships/chart" Target="/ppt/slides/charts/chart1.xml" Id="Rb2b5a419446140fd" /><Relationship Type="http://schemas.openxmlformats.org/officeDocument/2006/relationships/notesSlide" Target="/ppt/notesSlides/notesSlide9.xml" Id="R72e661e6490640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2cb43d1f74a40" /><Relationship Type="http://schemas.openxmlformats.org/officeDocument/2006/relationships/notesSlide" Target="/ppt/notesSlides/notesSlide10.xml" Id="R8653b8886fcc43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8148e1f98426e" /><Relationship Type="http://schemas.openxmlformats.org/officeDocument/2006/relationships/notesSlide" Target="/ppt/notesSlides/notesSlide11.xml" Id="R2bb3ee50cbec47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51a48b94b4c5f" /><Relationship Type="http://schemas.openxmlformats.org/officeDocument/2006/relationships/notesSlide" Target="/ppt/notesSlides/notesSlide12.xml" Id="R45b3f87e949c4a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d56e1341e4fb6" /><Relationship Type="http://schemas.openxmlformats.org/officeDocument/2006/relationships/notesSlide" Target="/ppt/notesSlides/notesSlide13.xml" Id="Rc5f74c9870bf42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c995ee2884390" /><Relationship Type="http://schemas.openxmlformats.org/officeDocument/2006/relationships/notesSlide" Target="/ppt/notesSlides/notesSlide14.xml" Id="R75d201b031314b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f88e19c6446c3" /><Relationship Type="http://schemas.openxmlformats.org/officeDocument/2006/relationships/notesSlide" Target="/ppt/notesSlides/notesSlide15.xml" Id="R0fe2d44f283e4c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0364ec0ba45d8" /><Relationship Type="http://schemas.openxmlformats.org/officeDocument/2006/relationships/notesSlide" Target="/ppt/notesSlides/notesSlide16.xml" Id="R06bfc0b3035744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c1b7c0a8a4ae1" /><Relationship Type="http://schemas.openxmlformats.org/officeDocument/2006/relationships/notesSlide" Target="/ppt/notesSlides/notesSlide17.xml" Id="R0df9743543e542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3a4140a9e4bff" /><Relationship Type="http://schemas.openxmlformats.org/officeDocument/2006/relationships/notesSlide" Target="/ppt/notesSlides/notesSlide18.xml" Id="R6a787bfeaa7f48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4a856e75f4830" /><Relationship Type="http://schemas.openxmlformats.org/officeDocument/2006/relationships/notesSlide" Target="/ppt/notesSlides/notesSlide19.xml" Id="R2b6e01f28b0143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44ec8d6724df8" /><Relationship Type="http://schemas.openxmlformats.org/officeDocument/2006/relationships/notesSlide" Target="/ppt/notesSlides/notesSlide20.xml" Id="R715e1dea481d4b5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Microsoft YaHei"/>
                <a:ea typeface="Microsoft YaHei"/>
                <a:cs typeface="Microsoft YaHei"/>
              </a:rPr>
              <a:t>16 个场景的终止状态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案例数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成功</c:v>
                </c:pt>
                <c:pt idx="1">
                  <c:v>超时</c:v>
                </c:pt>
                <c:pt idx="2">
                  <c:v>碰撞</c:v>
                </c:pt>
                <c:pt idx="3">
                  <c:v>越界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UUV 仿真平台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6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项目结构与进展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525" y="4714875"/>
            <a:ext cx="10001250" cy="1333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规划、轨迹生成、闭环控制与实验评价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NTU MSc Computer Control and Automation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ISM-DISS-05863    2026 年 9 月 16 日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详细汇报</a:t>
            </a:r>
          </a:p>
        </p:txBody>
      </p:sp>
    </p:spTree>
    <p:extLst>
      <p:ext uri="{BB962C8B-B14F-4D97-AF65-F5344CB8AC3E}">
        <p14:creationId xmlns:p14="http://schemas.microsoft.com/office/powerpoint/2010/main" val="7000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研究目标与当前边界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几何上无碰撞的路径，能否由欠驱动 UUV 安全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执行并稳定到达终点？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建立统一平台，分开评价规划质量、跟踪表现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与完整任务结果。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当前研究范围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垂直 x–z 平面，纵荡、升沉、俯仰 3 自由度。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静态障碍、无流与恒定海流，A* 与级联 PID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基线。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物理参数为合成测试配置，尚无真实艇验证。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项目结构与模块责任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研究算法保持独立，ROS 2 与 Gazebo 作为后续外部适配层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733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接口或产物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不可变数据与坐标、向量约定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VehicleState / Path / 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Environment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边界、障碍、净空与海流查询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WorldModel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搜索与完整路径验证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PlanningResult /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安全捷径、重采样与时间参数化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带时间的参考状态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Controller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跟踪参考 / 推进非线性动力学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ControlInput / 新状态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/ Simulation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任务调度、安全检查、终止与配置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任务结果、历史与指标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Visualization /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绘图、验收与证据归档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图、JSON、日志、哈希清单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闭环运行流程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  几何规划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任务与环境交给 A*，生成无时间戳的 Path。每条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边进行连续碰撞验证。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 参考轨迹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安全简化与重采样后分配时间。Simulation 按当前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时刻采样参考状态。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  控制输入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Controller 比较当前状态与参考，输出有界纵向力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和俯仰力矩。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  状态反馈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Physics 推进状态，再反馈给控制器。Navigation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检查实际运动段、到达与超时。</a:t>
            </a:r>
          </a:p>
        </p:txBody>
      </p:sp>
    </p:spTree>
    <p:extLst>
      <p:ext uri="{BB962C8B-B14F-4D97-AF65-F5344CB8AC3E}">
        <p14:creationId xmlns:p14="http://schemas.microsoft.com/office/powerpoint/2010/main" val="700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动力学与控制基线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合成 3-DOF 动力学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保留纵荡 u、升沉 w、俯仰 q，以及 x、z、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pitch。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世界坐标采用 ENU，艇体速度采用 SNAME 约定。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固定步长积分，默认 RK4。海流通过相对速度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进入模型。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欠驱动级联 PID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位置外环生成纵向速度，深度误差修正俯仰目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直接输入为纵向力与俯仰力矩，升沉力恒为零。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输出仍是广义力，尚未建立推进器、舵面与分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配模型。</a:t>
            </a:r>
          </a:p>
        </p:txBody>
      </p:sp>
    </p:spTree>
    <p:extLst>
      <p:ext uri="{BB962C8B-B14F-4D97-AF65-F5344CB8AC3E}">
        <p14:creationId xmlns:p14="http://schemas.microsoft.com/office/powerpoint/2010/main" val="700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当前进度与证据层级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以截至 9 月 15 日的仓库证据更新 9 月 10 日的 Word 计划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048000"/>
                <a:gridCol w="5495925"/>
              </a:tblGrid>
              <a:tr h="49172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证据与边界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/ Environment / Physics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已完成既定范围验证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3-DOF、静态世界、合成参数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A* v0.6b / M1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绕障、窄通道、不可达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v0.7 / M2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基线已验收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个可达场景，不保证动态可行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Navigation v0.8 / M3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最小闭环已验证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16 案例有 9 个任务失败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 v0.5.1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可选控制功能已验证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622 项测试通过，默认前馈仍关闭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终端捕获候选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已有对照实验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低速绕障成功，待全场景回归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72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 / ROS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尚未形成完整发布证据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10477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A* 几何规划已通过验收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4572000" cy="3857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有界栅格搜索与 4/8 邻接。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考虑艇体半径与安全余量，拒绝对角切角。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图中证据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绕障路径长 10.071 m，扩展 145 个节点。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该结果证明几何路径有效，执行安全仍需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闭环实验。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d20fe4d3140c0"/>
          <a:stretch xmlns:a="http://schemas.openxmlformats.org/drawingml/2006/main"/>
        </p:blipFill>
        <p:spPr>
          <a:xfrm xmlns:a="http://schemas.openxmlformats.org/drawingml/2006/main">
            <a:off x="5499735" y="1181100"/>
            <a:ext cx="5897880" cy="491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0525" y="342900"/>
            <a:ext cx="11401425" cy="8572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轨迹基线已有时间参考</a:t>
            </a:r>
          </a:p>
        </p:txBody>
      </p:sp>
      <p:sp>
        <p:nvSpPr>
          <p:cNvPr id="534" name="caption">
            <a:extLst xmlns:a="http://schemas.openxmlformats.org/drawingml/2006/main">
              <a:ext uri="{FF2B5EF4-FFF2-40B4-BE49-F238E27FC236}">
                <a16:creationId xmlns:a16="http://schemas.microsoft.com/office/drawing/2014/main" id="{CBBBF488-997F-4B11-9B89-612F9F15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1401425" cy="6381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安全捷径与距离重采样后，生成恒速时间参考。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转角处俯仰参考仍不连续，尚无加速度或有限转弯率保证。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25272f7d34153"/>
          <a:stretch xmlns:a="http://schemas.openxmlformats.org/drawingml/2006/main"/>
        </p:blipFill>
        <p:spPr>
          <a:xfrm xmlns:a="http://schemas.openxmlformats.org/drawingml/2006/main">
            <a:off x="2544762" y="1200150"/>
            <a:ext cx="7064375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 M3 闭环结果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场景总数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成功案例</a:t>
            </a: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47825"/>
            <a:ext cx="5334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成功与失败均有记录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水平、静态窄通道及轴向恒流已有通过案例。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对角终端停留、绕障和垂向流仍暴露局限。</a:t>
            </a:r>
          </a:p>
        </p:txBody>
      </p:sp>
      <p:sp>
        <p:nvSpPr>
          <p:cNvPr id="43" name="foot">
            <a:extLst xmlns:a="http://schemas.openxmlformats.org/drawingml/2006/main">
              <a:ext uri="{FF2B5EF4-FFF2-40B4-BE49-F238E27FC236}">
                <a16:creationId xmlns:a16="http://schemas.microsoft.com/office/drawing/2014/main" id="{A559B0F9-818E-43C6-B290-433330EA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10953750" cy="2667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历史基线：7 SUCCESS、2 TIMEOUT、6 COLLISION、1 OUT_OF_BOUNDS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90525" y="1666875"/>
          <a:ext xmlns:a="http://schemas.openxmlformats.org/drawingml/2006/main" cx="54292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b5a419446140fd"/>
          </a:graphicData>
        </a:graphic>
      </p:graphicFrame>
    </p:spTree>
    <p:extLst>
      <p:ext uri="{BB962C8B-B14F-4D97-AF65-F5344CB8AC3E}">
        <p14:creationId xmlns:p14="http://schemas.microsoft.com/office/powerpoint/2010/main" val="700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v0.5.1 恢复力前馈与限幅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控制改进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按实际俯仰角补偿合成模型的恢复力矩。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PID、前馈与积分先合成，再使用统一有效上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限裁剪。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控制器与 Navigation 共享本周期限值，抗饱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和使用相同约束。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验收范围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完整测试记录为 622 passed，无跳过。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 个真实模块案例各运行两次，记录一致。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旧配置默认系数为 0。系数 6 N·m 的候选配置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需显式启用。</a:t>
            </a:r>
          </a:p>
        </p:txBody>
      </p:sp>
    </p:spTree>
    <p:extLst>
      <p:ext uri="{BB962C8B-B14F-4D97-AF65-F5344CB8AC3E}">
        <p14:creationId xmlns:p14="http://schemas.microsoft.com/office/powerpoint/2010/main" val="7000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前馈改善了对角任务表现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位置 / 速度 / 俯仰角速度 / 保持时间：0.25 m / 0.10 m/s / 0.10 rad/s / 0.5 s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428750"/>
                <a:gridCol w="530542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终端位置误差 / 说明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前馈关闭，升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0.2621 m，保留原始基线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前馈候选，升 / 降，0.5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0.2142 m，23.85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 4.8 / 7.2，升 / 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仅为 ±20% 系数偏差试验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俯仰力矩上限 0.5 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1.2147 m，控制权限不足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前馈候选，绕障 0.2 /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0.2872 / 0.4150 m，无碰撞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绕障终端残差的原因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观测到的现象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前馈候选最终几乎静止，但仍离目标 0.287 /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0.415 m。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沿实际艇体朝向的误差投影接近零，因此纵向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速度目标也接近零。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末段法向残差仍大，当前欠驱动终端保持无法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直接消除它。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研究含义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轨迹末段与转弯已带来误差，残差并非完全由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刹车产生。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实验显示模型具备主动制动能力。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后续需要有约束的终端位置捕获，并独立评价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末段减速。</a:t>
            </a:r>
          </a:p>
        </p:txBody>
      </p:sp>
    </p:spTree>
    <p:extLst>
      <p:ext uri="{BB962C8B-B14F-4D97-AF65-F5344CB8AC3E}">
        <p14:creationId xmlns:p14="http://schemas.microsoft.com/office/powerpoint/2010/main" val="7000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最新终端捕获候选结果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候选策略采用先制动、受限转向、低速纠偏；默认关闭</a:t>
            </a:r>
          </a:p>
        </p:txBody>
      </p:sp>
      <p:sp>
        <p:nvSpPr>
          <p:cNvPr id="534" name="caveat">
            <a:extLst xmlns:a="http://schemas.openxmlformats.org/drawingml/2006/main">
              <a:ext uri="{FF2B5EF4-FFF2-40B4-BE49-F238E27FC236}">
                <a16:creationId xmlns:a16="http://schemas.microsoft.com/office/drawing/2014/main" id="{5E345B55-6290-4D95-B6FA-61ED753B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72150"/>
            <a:ext cx="10953750" cy="428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两条绕障轨迹的额外障碍余量仅约 27 mm / 8 mm，尚不能称为稳健安全配置</a:t>
            </a:r>
          </a:p>
        </p:txBody>
      </p:sp>
      <p:graphicFrame>
        <p:nvGraphicFramePr>
          <p:cNvPr id="541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429000"/>
                <a:gridCol w="4257675"/>
              </a:tblGrid>
              <a:tr h="5810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固定前馈配置下的案例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原终端保持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启用终端捕获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0.2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0.287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成功，0.229 m，66.50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绕障 0.3 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超时，误差 0.415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成功，0.233 m，56.10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孤立横向偏差 / 混合偏差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个案例超时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原水平、上升、下降任务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个案例仍成功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组启用 / 关闭对照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未完成原始 M3 全矩阵复验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下一阶段的完成路径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3375" y="3371850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当前优先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随后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47975"/>
            <a:ext cx="356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基线稳定后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转弯与执行余量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分别研究末段减速、转弯参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考与规划净空，避免同时改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动失去归因。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终端策略验收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补充边界与失败测试，固定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候选参数，复验原始 16 场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景。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19525"/>
            <a:ext cx="35623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 Benchmark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冻结地图、物理、控制与终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止条件，形成可复现对比结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果。</a:t>
            </a:r>
          </a:p>
        </p:txBody>
      </p:sp>
    </p:spTree>
    <p:extLst>
      <p:ext uri="{BB962C8B-B14F-4D97-AF65-F5344CB8AC3E}">
        <p14:creationId xmlns:p14="http://schemas.microsoft.com/office/powerpoint/2010/main" val="7000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评价体系与公平比较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路径有效率、长度、连续净空、转角指标、规划时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间与扩展节点。固定地图和请求。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跟踪 RMSE、最大误差、终端误差、输入饱和与计算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时间。固定参考轨迹。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完整任务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成功、碰撞、越界、完成时间、实际轨迹最小余量。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固定物理模型和终止阈值。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可复现证据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每次运行保存配置、结果、完整历史、图和哈希清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单。输入代价仅作为代理指标。</a:t>
            </a:r>
          </a:p>
        </p:txBody>
      </p:sp>
    </p:spTree>
    <p:extLst>
      <p:ext uri="{BB962C8B-B14F-4D97-AF65-F5344CB8AC3E}">
        <p14:creationId xmlns:p14="http://schemas.microsoft.com/office/powerpoint/2010/main" val="700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计划中的算法改进与消融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这些属于后续研究设计；每次只引入一个因素，并保留失败与代价权衡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286250"/>
                <a:gridCol w="4257675"/>
              </a:tblGrid>
              <a:tr h="6556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希望解决的问题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比较时保持一致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Standard A* 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提供统一起点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地图、网格、碰撞验证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增加规划余量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执行偏差侵蚀几何净空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实际运动安全阈值不变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增加转弯代价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路径转角对跟踪不友好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控制器与速度策略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加入速度策略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转弯与末段误差较大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路径与控制器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6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海流 / 运动感知代价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规划结果与可执行性脱节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场景、物理与终止条件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完成计划与内部目标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71575"/>
            <a:ext cx="11401425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 月 30 日是内部规划目标，非已确认的学校截止日期；论文随实验持续更新</a:t>
            </a:r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390525" y="211455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810000"/>
                <a:gridCol w="4162425"/>
              </a:tblGrid>
              <a:tr h="561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建议窗口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阶段退出证据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月下旬至 10 月上旬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终端捕获、转弯与执行安全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候选验收与全场景回归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月中下旬至 11 月 1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 Benchmark 并批量实验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配置矩阵、原始指标和核心图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2–8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规划改进与消融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公平对照与导师讨论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9–15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ROS 2 薄适配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可启动并复现的 ROS 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16–22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缓冲或一个条件扩展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核心证据与写作优先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月 23–30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功能冻结、论文与发布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干净环境复现、最终图表和说明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范围优先级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525" y="2428875"/>
            <a:ext cx="3571875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必须完成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可靠的 3-DOF 静态闭环。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无流 / 恒流实验。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PID 基线、Benchmark、论文与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可复现发布。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0075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条件扩展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MPC、6-DOF、Gazebo。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RRT* 或 RL 需导师选择。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动态障碍与复杂海流按时间和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证据决定。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05300" y="2428875"/>
            <a:ext cx="3571875" cy="3429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海流或运动感知规划。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针对失败模式的消融。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ROS 2 适配与完整运行案例。</a:t>
            </a:r>
          </a:p>
        </p:txBody>
      </p:sp>
    </p:spTree>
    <p:extLst>
      <p:ext uri="{BB962C8B-B14F-4D97-AF65-F5344CB8AC3E}">
        <p14:creationId xmlns:p14="http://schemas.microsoft.com/office/powerpoint/2010/main" val="7000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主要风险与应对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终端成功但净空过小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把障碍余量列为独立验收项，增加初始状态与参数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扰动测试。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多项改动难以归因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固定控制与场景，分别比较终端、速度和规划策略。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外部集成拖延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保持核心 Python 独立运行。ROS 2 使用薄适配，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Gazebo 可移至后续。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论文证据积压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每个里程碑同步更新方法、结果与局限。延期时先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压缩条件扩展。</a:t>
            </a:r>
          </a:p>
        </p:txBody>
      </p:sp>
    </p:spTree>
    <p:extLst>
      <p:ext uri="{BB962C8B-B14F-4D97-AF65-F5344CB8AC3E}">
        <p14:creationId xmlns:p14="http://schemas.microsoft.com/office/powerpoint/2010/main" val="70001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最终交付与讨论重点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预期交付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模块化仿真代码与版本化配置。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可复现 Benchmark、成功和失败案例及论文图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运行说明、局限说明与 ROS 2 演示案例。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需要讨论的选择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确认当前静态 3-DOF 范围与验收指标。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明确规划改进的首要研究问题。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核心证据稳定后，再决定 RRT*、RL 或其他单</a:t>
            </a:r>
          </a:p>
          <a:p xmlns:a="http://schemas.openxmlformats.org/drawingml/2006/main"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一扩展。</a:t>
            </a:r>
          </a:p>
        </p:txBody>
      </p:sp>
    </p:spTree>
    <p:extLst>
      <p:ext uri="{BB962C8B-B14F-4D97-AF65-F5344CB8AC3E}">
        <p14:creationId xmlns:p14="http://schemas.microsoft.com/office/powerpoint/2010/main" val="70001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2026-09-16T08:38:42.0840000Z</dcterms:created>
  <dcterms:modified xsi:type="dcterms:W3CDTF">2026-09-16T08:38:42.0840000Z</dcterms:modified>
</coreProperties>
</file>